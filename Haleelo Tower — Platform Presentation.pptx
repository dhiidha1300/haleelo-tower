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B2D4F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B2D4F"/>
                </a:solidFill>
                <a:latin typeface="Arial"/>
              </a:rPr>
              <a:t>Monthly Revenue Breakdown (USD)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Office Leases</c:v>
                </c:pt>
              </c:strCache>
            </c:strRef>
          </c:tx>
          <c:spPr>
            <a:solidFill>
              <a:srgbClr val="1B2D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24000</c:v>
                </c:pt>
                <c:pt idx="1">
                  <c:v>24000</c:v>
                </c:pt>
                <c:pt idx="2">
                  <c:v>24000</c:v>
                </c:pt>
                <c:pt idx="3">
                  <c:v>26000</c:v>
                </c:pt>
                <c:pt idx="4">
                  <c:v>28500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Conference</c:v>
                </c:pt>
              </c:strCache>
            </c:strRef>
          </c:tx>
          <c:spPr>
            <a:solidFill>
              <a:srgbClr val="C9A0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8200</c:v>
                </c:pt>
                <c:pt idx="1">
                  <c:v>9100</c:v>
                </c:pt>
                <c:pt idx="2">
                  <c:v>10400</c:v>
                </c:pt>
                <c:pt idx="3">
                  <c:v>11800</c:v>
                </c:pt>
                <c:pt idx="4">
                  <c:v>13200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Add-ons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1800</c:v>
                </c:pt>
                <c:pt idx="1">
                  <c:v>2100</c:v>
                </c:pt>
                <c:pt idx="2">
                  <c:v>2400</c:v>
                </c:pt>
                <c:pt idx="3">
                  <c:v>2800</c:v>
                </c:pt>
                <c:pt idx="4">
                  <c:v>3100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Payroll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2D4F"/>
              </a:solidFill>
              <a:effectLst/>
            </c:spPr>
          </c:dPt>
          <c:dPt>
            <c:idx val="1"/>
            <c:bubble3D val="0"/>
            <c:spPr>
              <a:solidFill>
                <a:srgbClr val="C9A052"/>
              </a:solidFill>
              <a:effectLst/>
            </c:spPr>
          </c:dPt>
          <c:dPt>
            <c:idx val="2"/>
            <c:bubble3D val="0"/>
            <c:spPr>
              <a:solidFill>
                <a:srgbClr val="94A3B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Internal Staff</c:v>
                </c:pt>
                <c:pt idx="1">
                  <c:v>Maintenance</c:v>
                </c:pt>
                <c:pt idx="2">
                  <c:v>Cafeteria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3145</c:v>
                </c:pt>
                <c:pt idx="1">
                  <c:v>2050</c:v>
                </c:pt>
                <c:pt idx="2">
                  <c:v>1225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B2D4F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B2D4F"/>
                </a:solidFill>
                <a:latin typeface="Arial"/>
              </a:rPr>
              <a:t>Occupancy &amp; Collection Rate — Monthly Trend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Occupancy Rate (%)</c:v>
                </c:pt>
              </c:strCache>
            </c:strRef>
          </c:tx>
          <c:spPr>
            <a:solidFill>
              <a:srgbClr val="1B2D4F"/>
            </a:solidFill>
            <a:ln w="25400" cap="flat">
              <a:solidFill>
                <a:srgbClr val="1B2D4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B2D4F"/>
              </a:solidFill>
              <a:ln w="9525" cap="flat">
                <a:solidFill>
                  <a:srgbClr val="1B2D4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Jun*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74</c:v>
                </c:pt>
                <c:pt idx="1">
                  <c:v>78</c:v>
                </c:pt>
                <c:pt idx="2">
                  <c:v>83</c:v>
                </c:pt>
                <c:pt idx="3">
                  <c:v>83</c:v>
                </c:pt>
                <c:pt idx="4">
                  <c:v>87</c:v>
                </c:pt>
                <c:pt idx="5">
                  <c:v>90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Collection Rate (%)</c:v>
                </c:pt>
              </c:strCache>
            </c:strRef>
          </c:tx>
          <c:spPr>
            <a:solidFill>
              <a:srgbClr val="C9A052"/>
            </a:solidFill>
            <a:ln w="25400" cap="flat">
              <a:solidFill>
                <a:srgbClr val="C9A0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9A052"/>
              </a:solidFill>
              <a:ln w="9525" cap="flat">
                <a:solidFill>
                  <a:srgbClr val="C9A0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Jun*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88</c:v>
                </c:pt>
                <c:pt idx="1">
                  <c:v>90</c:v>
                </c:pt>
                <c:pt idx="2">
                  <c:v>91</c:v>
                </c:pt>
                <c:pt idx="3">
                  <c:v>92</c:v>
                </c:pt>
                <c:pt idx="4">
                  <c:v>94</c:v>
                </c:pt>
                <c:pt idx="5">
                  <c:v>95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6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D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C9A05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9728"/>
            <a:ext cx="4114800" cy="6748272"/>
          </a:xfrm>
          <a:prstGeom prst="rect">
            <a:avLst/>
          </a:prstGeom>
          <a:solidFill>
            <a:srgbClr val="0F1D3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3657600"/>
            <a:ext cx="457200" cy="3200400"/>
          </a:xfrm>
          <a:prstGeom prst="roundRect">
            <a:avLst>
              <a:gd name="adj" fmla="val 10000"/>
            </a:avLst>
          </a:prstGeom>
          <a:solidFill>
            <a:srgbClr val="C9A052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2103120"/>
            <a:ext cx="457200" cy="4754880"/>
          </a:xfrm>
          <a:prstGeom prst="roundRect">
            <a:avLst>
              <a:gd name="adj" fmla="val 10000"/>
            </a:avLst>
          </a:prstGeom>
          <a:solidFill>
            <a:srgbClr val="C9A052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645920" y="3200400"/>
            <a:ext cx="457200" cy="3657600"/>
          </a:xfrm>
          <a:prstGeom prst="roundRect">
            <a:avLst>
              <a:gd name="adj" fmla="val 10000"/>
            </a:avLst>
          </a:prstGeom>
          <a:solidFill>
            <a:srgbClr val="C9A052">
              <a:alpha val="5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194560" y="4297680"/>
            <a:ext cx="457200" cy="2560320"/>
          </a:xfrm>
          <a:prstGeom prst="roundRect">
            <a:avLst>
              <a:gd name="adj" fmla="val 10000"/>
            </a:avLst>
          </a:prstGeom>
          <a:solidFill>
            <a:srgbClr val="C9A052">
              <a:alpha val="3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13716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HALEELO TOWER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572000" y="1993392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C9A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IMPLEMENTATION PLAN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0" y="2514600"/>
            <a:ext cx="7132320" cy="0"/>
          </a:xfrm>
          <a:prstGeom prst="line">
            <a:avLst/>
          </a:prstGeom>
          <a:noFill/>
          <a:ln w="19050">
            <a:solidFill>
              <a:srgbClr val="A080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65176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digital management platform for tenants,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conference bookings, finance, payroll and reporting.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0" y="3566160"/>
            <a:ext cx="2194560" cy="548640"/>
          </a:xfrm>
          <a:prstGeom prst="roundRect">
            <a:avLst>
              <a:gd name="adj" fmla="val 16667"/>
            </a:avLst>
          </a:prstGeom>
          <a:solidFill>
            <a:srgbClr val="1E3248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3602736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08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572000" y="376732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Owners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040880" y="3566160"/>
            <a:ext cx="2194560" cy="548640"/>
          </a:xfrm>
          <a:prstGeom prst="roundRect">
            <a:avLst>
              <a:gd name="adj" fmla="val 16667"/>
            </a:avLst>
          </a:prstGeom>
          <a:solidFill>
            <a:srgbClr val="1E3248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0" y="3602736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08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7040880" y="376732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509760" y="3566160"/>
            <a:ext cx="2194560" cy="548640"/>
          </a:xfrm>
          <a:prstGeom prst="roundRect">
            <a:avLst>
              <a:gd name="adj" fmla="val 16667"/>
            </a:avLst>
          </a:prstGeom>
          <a:solidFill>
            <a:srgbClr val="1E3248"/>
          </a:solidFill>
          <a:ln/>
        </p:spPr>
      </p:sp>
      <p:sp>
        <p:nvSpPr>
          <p:cNvPr id="20" name="Text 18"/>
          <p:cNvSpPr/>
          <p:nvPr/>
        </p:nvSpPr>
        <p:spPr>
          <a:xfrm>
            <a:off x="9509760" y="3602736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08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9509760" y="376732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v1.1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4A3A1E"/>
          </a:solidFill>
          <a:ln/>
        </p:spPr>
      </p:sp>
      <p:sp>
        <p:nvSpPr>
          <p:cNvPr id="23" name="Text 21"/>
          <p:cNvSpPr/>
          <p:nvPr/>
        </p:nvSpPr>
        <p:spPr>
          <a:xfrm>
            <a:off x="0" y="6601968"/>
            <a:ext cx="12188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08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For Internal Presentation Only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926080" cy="6858000"/>
          </a:xfrm>
          <a:prstGeom prst="rect">
            <a:avLst/>
          </a:prstGeom>
          <a:solidFill>
            <a:srgbClr val="1B2D4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9A052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548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" y="9144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presentation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54680" y="685800"/>
            <a:ext cx="868680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12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310128" y="841248"/>
            <a:ext cx="438912" cy="438912"/>
          </a:xfrm>
          <a:prstGeom prst="ellipse">
            <a:avLst/>
          </a:prstGeom>
          <a:solidFill>
            <a:srgbClr val="1B2D4F"/>
          </a:solidFill>
          <a:ln/>
        </p:spPr>
      </p:sp>
      <p:sp>
        <p:nvSpPr>
          <p:cNvPr id="9" name="Text 7"/>
          <p:cNvSpPr/>
          <p:nvPr/>
        </p:nvSpPr>
        <p:spPr>
          <a:xfrm>
            <a:off x="3310128" y="8412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77056" y="7772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Overview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77056" y="1088136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platform does and who it serves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54680" y="1600200"/>
            <a:ext cx="868680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12">
                <a:alpha val="7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10128" y="1755648"/>
            <a:ext cx="438912" cy="438912"/>
          </a:xfrm>
          <a:prstGeom prst="ellipse">
            <a:avLst/>
          </a:prstGeom>
          <a:solidFill>
            <a:srgbClr val="C9A052"/>
          </a:solidFill>
          <a:ln/>
        </p:spPr>
      </p:sp>
      <p:sp>
        <p:nvSpPr>
          <p:cNvPr id="14" name="Text 12"/>
          <p:cNvSpPr/>
          <p:nvPr/>
        </p:nvSpPr>
        <p:spPr>
          <a:xfrm>
            <a:off x="3310128" y="17556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77056" y="16916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77056" y="2002536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modules — Booking, Tenants, Finance, Payroll &amp; more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54680" y="2514600"/>
            <a:ext cx="868680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12">
                <a:alpha val="7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310128" y="2670048"/>
            <a:ext cx="438912" cy="438912"/>
          </a:xfrm>
          <a:prstGeom prst="ellipse">
            <a:avLst/>
          </a:prstGeom>
          <a:solidFill>
            <a:srgbClr val="1B2D4F"/>
          </a:solidFill>
          <a:ln/>
        </p:spPr>
      </p:sp>
      <p:sp>
        <p:nvSpPr>
          <p:cNvPr id="19" name="Text 17"/>
          <p:cNvSpPr/>
          <p:nvPr/>
        </p:nvSpPr>
        <p:spPr>
          <a:xfrm>
            <a:off x="3310128" y="26700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77056" y="26060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Plan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877056" y="2916936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6-week delivery timeline with clear milestones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54680" y="3429000"/>
            <a:ext cx="868680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12">
                <a:alpha val="7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310128" y="3584448"/>
            <a:ext cx="438912" cy="438912"/>
          </a:xfrm>
          <a:prstGeom prst="ellipse">
            <a:avLst/>
          </a:prstGeom>
          <a:solidFill>
            <a:srgbClr val="C9A052"/>
          </a:solidFill>
          <a:ln/>
        </p:spPr>
      </p:sp>
      <p:sp>
        <p:nvSpPr>
          <p:cNvPr id="24" name="Text 22"/>
          <p:cNvSpPr/>
          <p:nvPr/>
        </p:nvSpPr>
        <p:spPr>
          <a:xfrm>
            <a:off x="3310128" y="3584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77056" y="35204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877056" y="3831336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tools and infrastructure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154680" y="4343400"/>
            <a:ext cx="868680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12">
                <a:alpha val="7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310128" y="4498848"/>
            <a:ext cx="438912" cy="438912"/>
          </a:xfrm>
          <a:prstGeom prst="ellipse">
            <a:avLst/>
          </a:prstGeom>
          <a:solidFill>
            <a:srgbClr val="1B2D4F"/>
          </a:solidFill>
          <a:ln/>
        </p:spPr>
      </p:sp>
      <p:sp>
        <p:nvSpPr>
          <p:cNvPr id="29" name="Text 27"/>
          <p:cNvSpPr/>
          <p:nvPr/>
        </p:nvSpPr>
        <p:spPr>
          <a:xfrm>
            <a:off x="3310128" y="44988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877056" y="4434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&amp; ROI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877056" y="4745736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investment pays off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154680" y="5257800"/>
            <a:ext cx="868680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12">
                <a:alpha val="7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310128" y="5413248"/>
            <a:ext cx="438912" cy="438912"/>
          </a:xfrm>
          <a:prstGeom prst="ellipse">
            <a:avLst/>
          </a:prstGeom>
          <a:solidFill>
            <a:srgbClr val="C9A052"/>
          </a:solidFill>
          <a:ln/>
        </p:spPr>
      </p:sp>
      <p:sp>
        <p:nvSpPr>
          <p:cNvPr id="34" name="Text 32"/>
          <p:cNvSpPr/>
          <p:nvPr/>
        </p:nvSpPr>
        <p:spPr>
          <a:xfrm>
            <a:off x="3310128" y="54132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877056" y="53492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877056" y="5660136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after you approve the plan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B2D4F"/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" y="65836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8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Haleelo Tower — Platform Implementation Plan  |  Confidential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11704320" y="6583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9A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D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9A052"/>
          </a:solidFill>
          <a:ln/>
        </p:spPr>
      </p:sp>
      <p:sp>
        <p:nvSpPr>
          <p:cNvPr id="4" name="Shape 2"/>
          <p:cNvSpPr/>
          <p:nvPr/>
        </p:nvSpPr>
        <p:spPr>
          <a:xfrm>
            <a:off x="10789920" y="164592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C9A052"/>
          </a:solidFill>
          <a:ln/>
        </p:spPr>
      </p:sp>
      <p:sp>
        <p:nvSpPr>
          <p:cNvPr id="5" name="Text 3"/>
          <p:cNvSpPr/>
          <p:nvPr/>
        </p:nvSpPr>
        <p:spPr>
          <a:xfrm>
            <a:off x="10789920" y="16459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2D4F"/>
                </a:solidFill>
              </a:rPr>
              <a:t>01  OVERVIEW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1188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1188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9A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Need to Run Haleelo Tower.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managing the building requires multiple disconnected tools and manual spreadsheets.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platform replaces all of that with one unified digital system.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931920" y="2560320"/>
            <a:ext cx="4023360" cy="4023360"/>
          </a:xfrm>
          <a:prstGeom prst="ellipse">
            <a:avLst/>
          </a:prstGeom>
          <a:solidFill>
            <a:srgbClr val="4A3A1E"/>
          </a:solidFill>
          <a:ln w="9525">
            <a:solidFill>
              <a:srgbClr val="A080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3291840"/>
            <a:ext cx="2560320" cy="2560320"/>
          </a:xfrm>
          <a:prstGeom prst="ellipse">
            <a:avLst/>
          </a:prstGeom>
          <a:solidFill>
            <a:srgbClr val="2A3F58"/>
          </a:solidFill>
          <a:ln w="12700">
            <a:solidFill>
              <a:srgbClr val="A080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0" y="3931920"/>
            <a:ext cx="1280160" cy="1280160"/>
          </a:xfrm>
          <a:prstGeom prst="ellipse">
            <a:avLst/>
          </a:prstGeom>
          <a:solidFill>
            <a:srgbClr val="C9A052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0" y="4096512"/>
            <a:ext cx="128016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HALEELO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TOWER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5943600" y="3913632"/>
            <a:ext cx="0" cy="-768096"/>
          </a:xfrm>
          <a:prstGeom prst="line">
            <a:avLst/>
          </a:prstGeom>
          <a:noFill/>
          <a:ln w="11430">
            <a:solidFill>
              <a:srgbClr val="A08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40680" y="2395728"/>
            <a:ext cx="1005840" cy="694944"/>
          </a:xfrm>
          <a:prstGeom prst="roundRect">
            <a:avLst>
              <a:gd name="adj" fmla="val 10526"/>
            </a:avLst>
          </a:prstGeom>
          <a:solidFill>
            <a:srgbClr val="1E3248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40680" y="2395728"/>
            <a:ext cx="1005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513763" y="4242816"/>
            <a:ext cx="665191" cy="-384048"/>
          </a:xfrm>
          <a:prstGeom prst="line">
            <a:avLst/>
          </a:prstGeom>
          <a:noFill/>
          <a:ln w="11430">
            <a:solidFill>
              <a:srgbClr val="A080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24467" y="3310128"/>
            <a:ext cx="1005840" cy="694944"/>
          </a:xfrm>
          <a:prstGeom prst="roundRect">
            <a:avLst>
              <a:gd name="adj" fmla="val 10526"/>
            </a:avLst>
          </a:prstGeom>
          <a:solidFill>
            <a:srgbClr val="1E3248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24467" y="3310128"/>
            <a:ext cx="1005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Conference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513763" y="4901184"/>
            <a:ext cx="665191" cy="384048"/>
          </a:xfrm>
          <a:prstGeom prst="line">
            <a:avLst/>
          </a:prstGeom>
          <a:noFill/>
          <a:ln w="11430">
            <a:solidFill>
              <a:srgbClr val="A080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24467" y="5138928"/>
            <a:ext cx="1005840" cy="694944"/>
          </a:xfrm>
          <a:prstGeom prst="roundRect">
            <a:avLst>
              <a:gd name="adj" fmla="val 10526"/>
            </a:avLst>
          </a:prstGeom>
          <a:solidFill>
            <a:srgbClr val="1E3248"/>
          </a:solidFill>
          <a:ln w="15240">
            <a:solidFill>
              <a:srgbClr val="C9A0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24467" y="5138928"/>
            <a:ext cx="1005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Invoicing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943600" y="5230368"/>
            <a:ext cx="0" cy="768096"/>
          </a:xfrm>
          <a:prstGeom prst="line">
            <a:avLst/>
          </a:prstGeom>
          <a:noFill/>
          <a:ln w="11430">
            <a:solidFill>
              <a:srgbClr val="A0804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40680" y="6053328"/>
            <a:ext cx="1005840" cy="694944"/>
          </a:xfrm>
          <a:prstGeom prst="roundRect">
            <a:avLst>
              <a:gd name="adj" fmla="val 10526"/>
            </a:avLst>
          </a:prstGeom>
          <a:solidFill>
            <a:srgbClr val="1E3248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40680" y="6053328"/>
            <a:ext cx="1005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373437" y="4901184"/>
            <a:ext cx="-665191" cy="384048"/>
          </a:xfrm>
          <a:prstGeom prst="line">
            <a:avLst/>
          </a:prstGeom>
          <a:noFill/>
          <a:ln w="11430">
            <a:solidFill>
              <a:srgbClr val="A0804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56893" y="5138928"/>
            <a:ext cx="1005840" cy="694944"/>
          </a:xfrm>
          <a:prstGeom prst="roundRect">
            <a:avLst>
              <a:gd name="adj" fmla="val 10526"/>
            </a:avLst>
          </a:prstGeom>
          <a:solidFill>
            <a:srgbClr val="1E3248"/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56893" y="5138928"/>
            <a:ext cx="1005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Analytics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373437" y="4242816"/>
            <a:ext cx="-665191" cy="-384048"/>
          </a:xfrm>
          <a:prstGeom prst="line">
            <a:avLst/>
          </a:prstGeom>
          <a:noFill/>
          <a:ln w="11430">
            <a:solidFill>
              <a:srgbClr val="A0804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56893" y="3310128"/>
            <a:ext cx="1005840" cy="694944"/>
          </a:xfrm>
          <a:prstGeom prst="roundRect">
            <a:avLst>
              <a:gd name="adj" fmla="val 10526"/>
            </a:avLst>
          </a:prstGeom>
          <a:solidFill>
            <a:srgbClr val="1E3248"/>
          </a:solidFill>
          <a:ln w="15240">
            <a:solidFill>
              <a:srgbClr val="4A90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56893" y="3310128"/>
            <a:ext cx="1005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0607040" y="2377440"/>
            <a:ext cx="1371600" cy="777240"/>
          </a:xfrm>
          <a:prstGeom prst="roundRect">
            <a:avLst>
              <a:gd name="adj" fmla="val 11765"/>
            </a:avLst>
          </a:prstGeom>
          <a:solidFill>
            <a:srgbClr val="1E3248"/>
          </a:solidFill>
          <a:ln/>
        </p:spPr>
      </p:sp>
      <p:sp>
        <p:nvSpPr>
          <p:cNvPr id="32" name="Shape 30"/>
          <p:cNvSpPr/>
          <p:nvPr/>
        </p:nvSpPr>
        <p:spPr>
          <a:xfrm>
            <a:off x="10607040" y="2377440"/>
            <a:ext cx="1371600" cy="45720"/>
          </a:xfrm>
          <a:prstGeom prst="rect">
            <a:avLst/>
          </a:prstGeom>
          <a:solidFill>
            <a:srgbClr val="C9A052"/>
          </a:solidFill>
          <a:ln/>
        </p:spPr>
      </p:sp>
      <p:sp>
        <p:nvSpPr>
          <p:cNvPr id="33" name="Text 31"/>
          <p:cNvSpPr/>
          <p:nvPr/>
        </p:nvSpPr>
        <p:spPr>
          <a:xfrm>
            <a:off x="10607040" y="246888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10607040" y="2834640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8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0607040" y="3383280"/>
            <a:ext cx="1371600" cy="777240"/>
          </a:xfrm>
          <a:prstGeom prst="roundRect">
            <a:avLst>
              <a:gd name="adj" fmla="val 11765"/>
            </a:avLst>
          </a:prstGeom>
          <a:solidFill>
            <a:srgbClr val="1E3248"/>
          </a:solidFill>
          <a:ln/>
        </p:spPr>
      </p:sp>
      <p:sp>
        <p:nvSpPr>
          <p:cNvPr id="36" name="Shape 34"/>
          <p:cNvSpPr/>
          <p:nvPr/>
        </p:nvSpPr>
        <p:spPr>
          <a:xfrm>
            <a:off x="10607040" y="3383280"/>
            <a:ext cx="13716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7" name="Text 35"/>
          <p:cNvSpPr/>
          <p:nvPr/>
        </p:nvSpPr>
        <p:spPr>
          <a:xfrm>
            <a:off x="10607040" y="34747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10607040" y="3840480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8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0607040" y="4389120"/>
            <a:ext cx="1371600" cy="777240"/>
          </a:xfrm>
          <a:prstGeom prst="roundRect">
            <a:avLst>
              <a:gd name="adj" fmla="val 11765"/>
            </a:avLst>
          </a:prstGeom>
          <a:solidFill>
            <a:srgbClr val="1E3248"/>
          </a:solidFill>
          <a:ln/>
        </p:spPr>
      </p:sp>
      <p:sp>
        <p:nvSpPr>
          <p:cNvPr id="40" name="Shape 38"/>
          <p:cNvSpPr/>
          <p:nvPr/>
        </p:nvSpPr>
        <p:spPr>
          <a:xfrm>
            <a:off x="10607040" y="4389120"/>
            <a:ext cx="13716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1" name="Text 39"/>
          <p:cNvSpPr/>
          <p:nvPr/>
        </p:nvSpPr>
        <p:spPr>
          <a:xfrm>
            <a:off x="10607040" y="44805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75+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10607040" y="4846320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8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0607040" y="5394960"/>
            <a:ext cx="1371600" cy="777240"/>
          </a:xfrm>
          <a:prstGeom prst="roundRect">
            <a:avLst>
              <a:gd name="adj" fmla="val 11765"/>
            </a:avLst>
          </a:prstGeom>
          <a:solidFill>
            <a:srgbClr val="1E3248"/>
          </a:solidFill>
          <a:ln/>
        </p:spPr>
      </p:sp>
      <p:sp>
        <p:nvSpPr>
          <p:cNvPr id="44" name="Shape 42"/>
          <p:cNvSpPr/>
          <p:nvPr/>
        </p:nvSpPr>
        <p:spPr>
          <a:xfrm>
            <a:off x="10607040" y="5394960"/>
            <a:ext cx="137160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5" name="Text 43"/>
          <p:cNvSpPr/>
          <p:nvPr/>
        </p:nvSpPr>
        <p:spPr>
          <a:xfrm>
            <a:off x="10607040" y="54864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wks</a:t>
            </a:r>
            <a:endParaRPr lang="en-US" sz="2400" dirty="0"/>
          </a:p>
        </p:txBody>
      </p:sp>
      <p:sp>
        <p:nvSpPr>
          <p:cNvPr id="46" name="Text 44"/>
          <p:cNvSpPr/>
          <p:nvPr/>
        </p:nvSpPr>
        <p:spPr>
          <a:xfrm>
            <a:off x="10607040" y="5852160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8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Deliver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B2D4F"/>
          </a:solidFill>
          <a:ln/>
        </p:spPr>
      </p:sp>
      <p:sp>
        <p:nvSpPr>
          <p:cNvPr id="48" name="Text 46"/>
          <p:cNvSpPr/>
          <p:nvPr/>
        </p:nvSpPr>
        <p:spPr>
          <a:xfrm>
            <a:off x="365760" y="65836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8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Haleelo Tower — Platform Implementation Plan  |  Confidential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11704320" y="6583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9A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9A05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28600"/>
            <a:ext cx="54864" cy="365760"/>
          </a:xfrm>
          <a:prstGeom prst="rect">
            <a:avLst/>
          </a:prstGeom>
          <a:solidFill>
            <a:srgbClr val="C9A05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the Platform?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56692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distinct portals, each designed for a specific audience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789920" y="164592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C9A052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0" y="16459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2D4F"/>
                </a:solidFill>
              </a:rPr>
              <a:t>01  OVERVIEW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65760" y="914400"/>
            <a:ext cx="3657600" cy="5486400"/>
          </a:xfrm>
          <a:prstGeom prst="roundRect">
            <a:avLst>
              <a:gd name="adj" fmla="val 3000"/>
            </a:avLst>
          </a:prstGeom>
          <a:solidFill>
            <a:srgbClr val="1B2D4F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914400"/>
            <a:ext cx="3657600" cy="73152"/>
          </a:xfrm>
          <a:prstGeom prst="rect">
            <a:avLst/>
          </a:prstGeom>
          <a:solidFill>
            <a:srgbClr val="1B2D4F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0515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</a:t>
            </a:r>
            <a:endParaRPr lang="en-US" sz="1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1691640"/>
            <a:ext cx="2743200" cy="0"/>
          </a:xfrm>
          <a:prstGeom prst="line">
            <a:avLst/>
          </a:prstGeom>
          <a:noFill/>
          <a:ln w="9525">
            <a:solidFill>
              <a:srgbClr val="A08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78308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over all platform modules — bookings, tenants, finance, payroll, and reports.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4360" y="2724912"/>
            <a:ext cx="91440" cy="91440"/>
          </a:xfrm>
          <a:prstGeom prst="ellipse">
            <a:avLst/>
          </a:prstGeom>
          <a:solidFill>
            <a:srgbClr val="C9A052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65176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office leases &amp; tenants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3383280"/>
            <a:ext cx="91440" cy="91440"/>
          </a:xfrm>
          <a:prstGeom prst="ellipse">
            <a:avLst/>
          </a:prstGeom>
          <a:solidFill>
            <a:srgbClr val="C9A052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31012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and approve bookings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4360" y="4041648"/>
            <a:ext cx="91440" cy="91440"/>
          </a:xfrm>
          <a:prstGeom prst="ellipse">
            <a:avLst/>
          </a:prstGeom>
          <a:solidFill>
            <a:srgbClr val="C9A052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96849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invoices &amp; track payments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94360" y="4700016"/>
            <a:ext cx="91440" cy="91440"/>
          </a:xfrm>
          <a:prstGeom prst="ellipse">
            <a:avLst/>
          </a:prstGeom>
          <a:solidFill>
            <a:srgbClr val="C9A052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62686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payroll &amp; generate payslips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94360" y="5358384"/>
            <a:ext cx="91440" cy="91440"/>
          </a:xfrm>
          <a:prstGeom prst="ellipse">
            <a:avLst/>
          </a:prstGeom>
          <a:solidFill>
            <a:srgbClr val="C9A052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28523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reports &amp; analytics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297680" y="914400"/>
            <a:ext cx="3657600" cy="5486400"/>
          </a:xfrm>
          <a:prstGeom prst="roundRect">
            <a:avLst>
              <a:gd name="adj" fmla="val 3000"/>
            </a:avLst>
          </a:prstGeom>
          <a:solidFill>
            <a:srgbClr val="1B2D4F"/>
          </a:solidFill>
          <a:ln/>
        </p:spPr>
      </p:sp>
      <p:sp>
        <p:nvSpPr>
          <p:cNvPr id="25" name="Shape 23"/>
          <p:cNvSpPr/>
          <p:nvPr/>
        </p:nvSpPr>
        <p:spPr>
          <a:xfrm>
            <a:off x="4297680" y="914400"/>
            <a:ext cx="36576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4297680" y="10515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</a:t>
            </a:r>
            <a:endParaRPr lang="en-US" sz="1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(Office Occupant)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754880" y="1691640"/>
            <a:ext cx="2743200" cy="0"/>
          </a:xfrm>
          <a:prstGeom prst="line">
            <a:avLst/>
          </a:prstGeom>
          <a:noFill/>
          <a:ln w="9525">
            <a:solidFill>
              <a:srgbClr val="A080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0560" y="178308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self-service portal to manage their day-to-day relationship with the building.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26280" y="2724912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0" name="Text 28"/>
          <p:cNvSpPr/>
          <p:nvPr/>
        </p:nvSpPr>
        <p:spPr>
          <a:xfrm>
            <a:off x="4709160" y="265176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lease details &amp; documents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26280" y="3383280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2" name="Text 30"/>
          <p:cNvSpPr/>
          <p:nvPr/>
        </p:nvSpPr>
        <p:spPr>
          <a:xfrm>
            <a:off x="4709160" y="331012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conference rooms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26280" y="4041648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4" name="Text 32"/>
          <p:cNvSpPr/>
          <p:nvPr/>
        </p:nvSpPr>
        <p:spPr>
          <a:xfrm>
            <a:off x="4709160" y="396849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invoices &amp; payment history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26280" y="4700016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6" name="Text 34"/>
          <p:cNvSpPr/>
          <p:nvPr/>
        </p:nvSpPr>
        <p:spPr>
          <a:xfrm>
            <a:off x="4709160" y="462686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maintenance requests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26280" y="5358384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8" name="Text 36"/>
          <p:cNvSpPr/>
          <p:nvPr/>
        </p:nvSpPr>
        <p:spPr>
          <a:xfrm>
            <a:off x="4709160" y="528523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announcements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229600" y="914400"/>
            <a:ext cx="3657600" cy="5486400"/>
          </a:xfrm>
          <a:prstGeom prst="roundRect">
            <a:avLst>
              <a:gd name="adj" fmla="val 3000"/>
            </a:avLst>
          </a:prstGeom>
          <a:solidFill>
            <a:srgbClr val="1B2D4F"/>
          </a:solidFill>
          <a:ln/>
        </p:spPr>
      </p:sp>
      <p:sp>
        <p:nvSpPr>
          <p:cNvPr id="40" name="Shape 38"/>
          <p:cNvSpPr/>
          <p:nvPr/>
        </p:nvSpPr>
        <p:spPr>
          <a:xfrm>
            <a:off x="8229600" y="914400"/>
            <a:ext cx="36576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1" name="Text 39"/>
          <p:cNvSpPr/>
          <p:nvPr/>
        </p:nvSpPr>
        <p:spPr>
          <a:xfrm>
            <a:off x="8229600" y="10515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1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686800" y="1691640"/>
            <a:ext cx="2743200" cy="0"/>
          </a:xfrm>
          <a:prstGeom prst="line">
            <a:avLst/>
          </a:prstGeom>
          <a:noFill/>
          <a:ln w="9525">
            <a:solidFill>
              <a:srgbClr val="A0804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12480" y="178308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visiting the public website to learn about the building or book a conference room.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458200" y="2724912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5" name="Text 43"/>
          <p:cNvSpPr/>
          <p:nvPr/>
        </p:nvSpPr>
        <p:spPr>
          <a:xfrm>
            <a:off x="8641080" y="265176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available spaces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458200" y="3383280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7" name="Text 45"/>
          <p:cNvSpPr/>
          <p:nvPr/>
        </p:nvSpPr>
        <p:spPr>
          <a:xfrm>
            <a:off x="8641080" y="331012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real-time availability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458200" y="4041648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9" name="Text 47"/>
          <p:cNvSpPr/>
          <p:nvPr/>
        </p:nvSpPr>
        <p:spPr>
          <a:xfrm>
            <a:off x="8641080" y="396849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 booking enquiry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8458200" y="4700016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1" name="Text 49"/>
          <p:cNvSpPr/>
          <p:nvPr/>
        </p:nvSpPr>
        <p:spPr>
          <a:xfrm>
            <a:off x="8641080" y="462686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pricing &amp; facilities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8458200" y="5358384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3" name="Text 51"/>
          <p:cNvSpPr/>
          <p:nvPr/>
        </p:nvSpPr>
        <p:spPr>
          <a:xfrm>
            <a:off x="8641080" y="528523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the building team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B2D4F"/>
          </a:solidFill>
          <a:ln/>
        </p:spPr>
      </p:sp>
      <p:sp>
        <p:nvSpPr>
          <p:cNvPr id="55" name="Text 53"/>
          <p:cNvSpPr/>
          <p:nvPr/>
        </p:nvSpPr>
        <p:spPr>
          <a:xfrm>
            <a:off x="365760" y="65836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8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Haleelo Tower — Platform Implementation Plan  |  Confidential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11704320" y="6583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9A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9A05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28600"/>
            <a:ext cx="54864" cy="365760"/>
          </a:xfrm>
          <a:prstGeom prst="rect">
            <a:avLst/>
          </a:prstGeom>
          <a:solidFill>
            <a:srgbClr val="C9A05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Modules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56692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integrated modules covering the full operation of Haleelo Tower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789920" y="164592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C9A052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0" y="16459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2D4F"/>
                </a:solidFill>
              </a:rPr>
              <a:t>02  FEATURES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56032" y="960120"/>
            <a:ext cx="274320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12">
                <a:alpha val="7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960120"/>
            <a:ext cx="2743200" cy="54864"/>
          </a:xfrm>
          <a:prstGeom prst="rect">
            <a:avLst/>
          </a:prstGeom>
          <a:solidFill>
            <a:srgbClr val="1B2D4F"/>
          </a:solidFill>
          <a:ln/>
        </p:spPr>
      </p:sp>
      <p:sp>
        <p:nvSpPr>
          <p:cNvPr id="11" name="Text 9"/>
          <p:cNvSpPr/>
          <p:nvPr/>
        </p:nvSpPr>
        <p:spPr>
          <a:xfrm>
            <a:off x="393192" y="106984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93192" y="12344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Website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Enquiries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93192" y="1929384"/>
            <a:ext cx="24688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3192" y="2093976"/>
            <a:ext cx="82296" cy="82296"/>
          </a:xfrm>
          <a:prstGeom prst="roundRect">
            <a:avLst>
              <a:gd name="adj" fmla="val 22222"/>
            </a:avLst>
          </a:prstGeom>
          <a:solidFill>
            <a:srgbClr val="1B2D4F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" y="203911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 spaces online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93192" y="2478024"/>
            <a:ext cx="82296" cy="82296"/>
          </a:xfrm>
          <a:prstGeom prst="roundRect">
            <a:avLst>
              <a:gd name="adj" fmla="val 22222"/>
            </a:avLst>
          </a:prstGeom>
          <a:solidFill>
            <a:srgbClr val="1B2D4F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availability viewer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93192" y="2862072"/>
            <a:ext cx="82296" cy="82296"/>
          </a:xfrm>
          <a:prstGeom prst="roundRect">
            <a:avLst>
              <a:gd name="adj" fmla="val 22222"/>
            </a:avLst>
          </a:prstGeom>
          <a:solidFill>
            <a:srgbClr val="1B2D4F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" y="28072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Enquiry &amp; contact forms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93192" y="3246120"/>
            <a:ext cx="82296" cy="82296"/>
          </a:xfrm>
          <a:prstGeom prst="roundRect">
            <a:avLst>
              <a:gd name="adj" fmla="val 22222"/>
            </a:avLst>
          </a:prstGeom>
          <a:solidFill>
            <a:srgbClr val="1B2D4F"/>
          </a:solidFill>
          <a:ln/>
        </p:spPr>
      </p:sp>
      <p:sp>
        <p:nvSpPr>
          <p:cNvPr id="21" name="Text 19"/>
          <p:cNvSpPr/>
          <p:nvPr/>
        </p:nvSpPr>
        <p:spPr>
          <a:xfrm>
            <a:off x="530352" y="319125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Mobile-responsive design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46120" y="960120"/>
            <a:ext cx="274320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12">
                <a:alpha val="7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46120" y="960120"/>
            <a:ext cx="27432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3383280" y="106984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383280" y="12344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Conference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Booking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383280" y="1929384"/>
            <a:ext cx="24688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83280" y="2093976"/>
            <a:ext cx="82296" cy="82296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/>
        </p:spPr>
      </p:sp>
      <p:sp>
        <p:nvSpPr>
          <p:cNvPr id="28" name="Text 26"/>
          <p:cNvSpPr/>
          <p:nvPr/>
        </p:nvSpPr>
        <p:spPr>
          <a:xfrm>
            <a:off x="3520440" y="203911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calendar booking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383280" y="2478024"/>
            <a:ext cx="82296" cy="82296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/>
        </p:spPr>
      </p:sp>
      <p:sp>
        <p:nvSpPr>
          <p:cNvPr id="30" name="Text 28"/>
          <p:cNvSpPr/>
          <p:nvPr/>
        </p:nvSpPr>
        <p:spPr>
          <a:xfrm>
            <a:off x="352044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Half/full day pricing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383280" y="2862072"/>
            <a:ext cx="82296" cy="82296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/>
        </p:spPr>
      </p:sp>
      <p:sp>
        <p:nvSpPr>
          <p:cNvPr id="32" name="Text 30"/>
          <p:cNvSpPr/>
          <p:nvPr/>
        </p:nvSpPr>
        <p:spPr>
          <a:xfrm>
            <a:off x="3520440" y="28072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add-ons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383280" y="3246120"/>
            <a:ext cx="82296" cy="82296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/>
        </p:spPr>
      </p:sp>
      <p:sp>
        <p:nvSpPr>
          <p:cNvPr id="34" name="Text 32"/>
          <p:cNvSpPr/>
          <p:nvPr/>
        </p:nvSpPr>
        <p:spPr>
          <a:xfrm>
            <a:off x="3520440" y="319125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confirmation emails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236208" y="960120"/>
            <a:ext cx="274320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12">
                <a:alpha val="7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36208" y="960120"/>
            <a:ext cx="27432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7" name="Text 35"/>
          <p:cNvSpPr/>
          <p:nvPr/>
        </p:nvSpPr>
        <p:spPr>
          <a:xfrm>
            <a:off x="6373368" y="106984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373368" y="12344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373368" y="1929384"/>
            <a:ext cx="24688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73368" y="2093976"/>
            <a:ext cx="82296" cy="82296"/>
          </a:xfrm>
          <a:prstGeom prst="roundRect">
            <a:avLst>
              <a:gd name="adj" fmla="val 22222"/>
            </a:avLst>
          </a:prstGeom>
          <a:solidFill>
            <a:srgbClr val="10B981"/>
          </a:solidFill>
          <a:ln/>
        </p:spPr>
      </p:sp>
      <p:sp>
        <p:nvSpPr>
          <p:cNvPr id="41" name="Text 39"/>
          <p:cNvSpPr/>
          <p:nvPr/>
        </p:nvSpPr>
        <p:spPr>
          <a:xfrm>
            <a:off x="6510528" y="203911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lease storage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373368" y="2478024"/>
            <a:ext cx="82296" cy="82296"/>
          </a:xfrm>
          <a:prstGeom prst="roundRect">
            <a:avLst>
              <a:gd name="adj" fmla="val 22222"/>
            </a:avLst>
          </a:prstGeom>
          <a:solidFill>
            <a:srgbClr val="10B981"/>
          </a:solidFill>
          <a:ln/>
        </p:spPr>
      </p:sp>
      <p:sp>
        <p:nvSpPr>
          <p:cNvPr id="43" name="Text 41"/>
          <p:cNvSpPr/>
          <p:nvPr/>
        </p:nvSpPr>
        <p:spPr>
          <a:xfrm>
            <a:off x="6510528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self-service portal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373368" y="2862072"/>
            <a:ext cx="82296" cy="82296"/>
          </a:xfrm>
          <a:prstGeom prst="roundRect">
            <a:avLst>
              <a:gd name="adj" fmla="val 22222"/>
            </a:avLst>
          </a:prstGeom>
          <a:solidFill>
            <a:srgbClr val="10B981"/>
          </a:solidFill>
          <a:ln/>
        </p:spPr>
      </p:sp>
      <p:sp>
        <p:nvSpPr>
          <p:cNvPr id="45" name="Text 43"/>
          <p:cNvSpPr/>
          <p:nvPr/>
        </p:nvSpPr>
        <p:spPr>
          <a:xfrm>
            <a:off x="6510528" y="28072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sharing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373368" y="3246120"/>
            <a:ext cx="82296" cy="82296"/>
          </a:xfrm>
          <a:prstGeom prst="roundRect">
            <a:avLst>
              <a:gd name="adj" fmla="val 22222"/>
            </a:avLst>
          </a:prstGeom>
          <a:solidFill>
            <a:srgbClr val="10B981"/>
          </a:solidFill>
          <a:ln/>
        </p:spPr>
      </p:sp>
      <p:sp>
        <p:nvSpPr>
          <p:cNvPr id="47" name="Text 45"/>
          <p:cNvSpPr/>
          <p:nvPr/>
        </p:nvSpPr>
        <p:spPr>
          <a:xfrm>
            <a:off x="6510528" y="319125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requests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9235440" y="960120"/>
            <a:ext cx="274320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12">
                <a:alpha val="7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9235440" y="960120"/>
            <a:ext cx="2743200" cy="54864"/>
          </a:xfrm>
          <a:prstGeom prst="rect">
            <a:avLst/>
          </a:prstGeom>
          <a:solidFill>
            <a:srgbClr val="C9A052"/>
          </a:solidFill>
          <a:ln/>
        </p:spPr>
      </p:sp>
      <p:sp>
        <p:nvSpPr>
          <p:cNvPr id="50" name="Text 48"/>
          <p:cNvSpPr/>
          <p:nvPr/>
        </p:nvSpPr>
        <p:spPr>
          <a:xfrm>
            <a:off x="9372600" y="106984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C9A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9372600" y="12344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Invoicing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9372600" y="1929384"/>
            <a:ext cx="24688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372600" y="2093976"/>
            <a:ext cx="82296" cy="82296"/>
          </a:xfrm>
          <a:prstGeom prst="roundRect">
            <a:avLst>
              <a:gd name="adj" fmla="val 22222"/>
            </a:avLst>
          </a:prstGeom>
          <a:solidFill>
            <a:srgbClr val="C9A052"/>
          </a:solidFill>
          <a:ln/>
        </p:spPr>
      </p:sp>
      <p:sp>
        <p:nvSpPr>
          <p:cNvPr id="54" name="Text 52"/>
          <p:cNvSpPr/>
          <p:nvPr/>
        </p:nvSpPr>
        <p:spPr>
          <a:xfrm>
            <a:off x="9509760" y="203911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invoice generation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9372600" y="2478024"/>
            <a:ext cx="82296" cy="82296"/>
          </a:xfrm>
          <a:prstGeom prst="roundRect">
            <a:avLst>
              <a:gd name="adj" fmla="val 22222"/>
            </a:avLst>
          </a:prstGeom>
          <a:solidFill>
            <a:srgbClr val="C9A052"/>
          </a:solidFill>
          <a:ln/>
        </p:spPr>
      </p:sp>
      <p:sp>
        <p:nvSpPr>
          <p:cNvPr id="56" name="Text 54"/>
          <p:cNvSpPr/>
          <p:nvPr/>
        </p:nvSpPr>
        <p:spPr>
          <a:xfrm>
            <a:off x="950976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LPO management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9372600" y="2862072"/>
            <a:ext cx="82296" cy="82296"/>
          </a:xfrm>
          <a:prstGeom prst="roundRect">
            <a:avLst>
              <a:gd name="adj" fmla="val 22222"/>
            </a:avLst>
          </a:prstGeom>
          <a:solidFill>
            <a:srgbClr val="C9A052"/>
          </a:solidFill>
          <a:ln/>
        </p:spPr>
      </p:sp>
      <p:sp>
        <p:nvSpPr>
          <p:cNvPr id="58" name="Text 56"/>
          <p:cNvSpPr/>
          <p:nvPr/>
        </p:nvSpPr>
        <p:spPr>
          <a:xfrm>
            <a:off x="9509760" y="28072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deposit tracking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9372600" y="3246120"/>
            <a:ext cx="82296" cy="82296"/>
          </a:xfrm>
          <a:prstGeom prst="roundRect">
            <a:avLst>
              <a:gd name="adj" fmla="val 22222"/>
            </a:avLst>
          </a:prstGeom>
          <a:solidFill>
            <a:srgbClr val="C9A052"/>
          </a:solidFill>
          <a:ln/>
        </p:spPr>
      </p:sp>
      <p:sp>
        <p:nvSpPr>
          <p:cNvPr id="60" name="Text 58"/>
          <p:cNvSpPr/>
          <p:nvPr/>
        </p:nvSpPr>
        <p:spPr>
          <a:xfrm>
            <a:off x="9509760" y="319125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Zaad / Edahab support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1737360" y="3931920"/>
            <a:ext cx="274320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12">
                <a:alpha val="75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1737360" y="3931920"/>
            <a:ext cx="27432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3" name="Text 61"/>
          <p:cNvSpPr/>
          <p:nvPr/>
        </p:nvSpPr>
        <p:spPr>
          <a:xfrm>
            <a:off x="1874520" y="404164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1874520" y="42062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1874520" y="4901184"/>
            <a:ext cx="24688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874520" y="5065776"/>
            <a:ext cx="82296" cy="82296"/>
          </a:xfrm>
          <a:prstGeom prst="roundRect">
            <a:avLst>
              <a:gd name="adj" fmla="val 22222"/>
            </a:avLst>
          </a:prstGeom>
          <a:solidFill>
            <a:srgbClr val="8B5CF6"/>
          </a:solidFill>
          <a:ln/>
        </p:spPr>
      </p:sp>
      <p:sp>
        <p:nvSpPr>
          <p:cNvPr id="67" name="Text 65"/>
          <p:cNvSpPr/>
          <p:nvPr/>
        </p:nvSpPr>
        <p:spPr>
          <a:xfrm>
            <a:off x="2011680" y="501091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profiles &amp; contracts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1874520" y="5449824"/>
            <a:ext cx="82296" cy="82296"/>
          </a:xfrm>
          <a:prstGeom prst="roundRect">
            <a:avLst>
              <a:gd name="adj" fmla="val 22222"/>
            </a:avLst>
          </a:prstGeom>
          <a:solidFill>
            <a:srgbClr val="8B5CF6"/>
          </a:solidFill>
          <a:ln/>
        </p:spPr>
      </p:sp>
      <p:sp>
        <p:nvSpPr>
          <p:cNvPr id="69" name="Text 67"/>
          <p:cNvSpPr/>
          <p:nvPr/>
        </p:nvSpPr>
        <p:spPr>
          <a:xfrm>
            <a:off x="2011680" y="53949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&amp; leave tracking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1874520" y="5833872"/>
            <a:ext cx="82296" cy="82296"/>
          </a:xfrm>
          <a:prstGeom prst="roundRect">
            <a:avLst>
              <a:gd name="adj" fmla="val 22222"/>
            </a:avLst>
          </a:prstGeom>
          <a:solidFill>
            <a:srgbClr val="8B5CF6"/>
          </a:solidFill>
          <a:ln/>
        </p:spPr>
      </p:sp>
      <p:sp>
        <p:nvSpPr>
          <p:cNvPr id="71" name="Text 69"/>
          <p:cNvSpPr/>
          <p:nvPr/>
        </p:nvSpPr>
        <p:spPr>
          <a:xfrm>
            <a:off x="2011680" y="5779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&amp; deductions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1874520" y="6217920"/>
            <a:ext cx="82296" cy="82296"/>
          </a:xfrm>
          <a:prstGeom prst="roundRect">
            <a:avLst>
              <a:gd name="adj" fmla="val 22222"/>
            </a:avLst>
          </a:prstGeom>
          <a:solidFill>
            <a:srgbClr val="8B5CF6"/>
          </a:solidFill>
          <a:ln/>
        </p:spPr>
      </p:sp>
      <p:sp>
        <p:nvSpPr>
          <p:cNvPr id="73" name="Text 71"/>
          <p:cNvSpPr/>
          <p:nvPr/>
        </p:nvSpPr>
        <p:spPr>
          <a:xfrm>
            <a:off x="2011680" y="616305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payslip generation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4727448" y="3931920"/>
            <a:ext cx="274320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12">
                <a:alpha val="75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4727448" y="3931920"/>
            <a:ext cx="27432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6" name="Text 74"/>
          <p:cNvSpPr/>
          <p:nvPr/>
        </p:nvSpPr>
        <p:spPr>
          <a:xfrm>
            <a:off x="4864608" y="404164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4864608" y="42062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Analytics</a:t>
            </a:r>
            <a:endParaRPr lang="en-US" sz="1300" dirty="0"/>
          </a:p>
        </p:txBody>
      </p:sp>
      <p:sp>
        <p:nvSpPr>
          <p:cNvPr id="78" name="Shape 76"/>
          <p:cNvSpPr/>
          <p:nvPr/>
        </p:nvSpPr>
        <p:spPr>
          <a:xfrm>
            <a:off x="4864608" y="4901184"/>
            <a:ext cx="24688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864608" y="5065776"/>
            <a:ext cx="82296" cy="82296"/>
          </a:xfrm>
          <a:prstGeom prst="roundRect">
            <a:avLst>
              <a:gd name="adj" fmla="val 22222"/>
            </a:avLst>
          </a:prstGeom>
          <a:solidFill>
            <a:srgbClr val="EF4444"/>
          </a:solidFill>
          <a:ln/>
        </p:spPr>
      </p:sp>
      <p:sp>
        <p:nvSpPr>
          <p:cNvPr id="80" name="Text 78"/>
          <p:cNvSpPr/>
          <p:nvPr/>
        </p:nvSpPr>
        <p:spPr>
          <a:xfrm>
            <a:off x="5001768" y="501091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dashboards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4864608" y="5449824"/>
            <a:ext cx="82296" cy="82296"/>
          </a:xfrm>
          <a:prstGeom prst="roundRect">
            <a:avLst>
              <a:gd name="adj" fmla="val 22222"/>
            </a:avLst>
          </a:prstGeom>
          <a:solidFill>
            <a:srgbClr val="EF4444"/>
          </a:solidFill>
          <a:ln/>
        </p:spPr>
      </p:sp>
      <p:sp>
        <p:nvSpPr>
          <p:cNvPr id="82" name="Text 80"/>
          <p:cNvSpPr/>
          <p:nvPr/>
        </p:nvSpPr>
        <p:spPr>
          <a:xfrm>
            <a:off x="5001768" y="53949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trend charts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4864608" y="5833872"/>
            <a:ext cx="82296" cy="82296"/>
          </a:xfrm>
          <a:prstGeom prst="roundRect">
            <a:avLst>
              <a:gd name="adj" fmla="val 22222"/>
            </a:avLst>
          </a:prstGeom>
          <a:solidFill>
            <a:srgbClr val="EF4444"/>
          </a:solidFill>
          <a:ln/>
        </p:spPr>
      </p:sp>
      <p:sp>
        <p:nvSpPr>
          <p:cNvPr id="84" name="Text 82"/>
          <p:cNvSpPr/>
          <p:nvPr/>
        </p:nvSpPr>
        <p:spPr>
          <a:xfrm>
            <a:off x="5001768" y="5779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demand heatmaps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4864608" y="6217920"/>
            <a:ext cx="82296" cy="82296"/>
          </a:xfrm>
          <a:prstGeom prst="roundRect">
            <a:avLst>
              <a:gd name="adj" fmla="val 22222"/>
            </a:avLst>
          </a:prstGeom>
          <a:solidFill>
            <a:srgbClr val="EF4444"/>
          </a:solidFill>
          <a:ln/>
        </p:spPr>
      </p:sp>
      <p:sp>
        <p:nvSpPr>
          <p:cNvPr id="86" name="Text 84"/>
          <p:cNvSpPr/>
          <p:nvPr/>
        </p:nvSpPr>
        <p:spPr>
          <a:xfrm>
            <a:off x="5001768" y="616305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email reports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7726680" y="3931920"/>
            <a:ext cx="274320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12">
                <a:alpha val="75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7726680" y="3931920"/>
            <a:ext cx="2743200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9" name="Text 87"/>
          <p:cNvSpPr/>
          <p:nvPr/>
        </p:nvSpPr>
        <p:spPr>
          <a:xfrm>
            <a:off x="7863840" y="404164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7863840" y="42062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91" name="Shape 89"/>
          <p:cNvSpPr/>
          <p:nvPr/>
        </p:nvSpPr>
        <p:spPr>
          <a:xfrm>
            <a:off x="7863840" y="4901184"/>
            <a:ext cx="24688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863840" y="5065776"/>
            <a:ext cx="82296" cy="82296"/>
          </a:xfrm>
          <a:prstGeom prst="roundRect">
            <a:avLst>
              <a:gd name="adj" fmla="val 22222"/>
            </a:avLst>
          </a:prstGeom>
          <a:solidFill>
            <a:srgbClr val="64748B"/>
          </a:solidFill>
          <a:ln/>
        </p:spPr>
      </p:sp>
      <p:sp>
        <p:nvSpPr>
          <p:cNvPr id="93" name="Text 91"/>
          <p:cNvSpPr/>
          <p:nvPr/>
        </p:nvSpPr>
        <p:spPr>
          <a:xfrm>
            <a:off x="8001000" y="501091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command view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7863840" y="5449824"/>
            <a:ext cx="82296" cy="82296"/>
          </a:xfrm>
          <a:prstGeom prst="roundRect">
            <a:avLst>
              <a:gd name="adj" fmla="val 22222"/>
            </a:avLst>
          </a:prstGeom>
          <a:solidFill>
            <a:srgbClr val="64748B"/>
          </a:solidFill>
          <a:ln/>
        </p:spPr>
      </p:sp>
      <p:sp>
        <p:nvSpPr>
          <p:cNvPr id="95" name="Text 93"/>
          <p:cNvSpPr/>
          <p:nvPr/>
        </p:nvSpPr>
        <p:spPr>
          <a:xfrm>
            <a:off x="8001000" y="53949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summary cards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7863840" y="5833872"/>
            <a:ext cx="82296" cy="82296"/>
          </a:xfrm>
          <a:prstGeom prst="roundRect">
            <a:avLst>
              <a:gd name="adj" fmla="val 22222"/>
            </a:avLst>
          </a:prstGeom>
          <a:solidFill>
            <a:srgbClr val="64748B"/>
          </a:solidFill>
          <a:ln/>
        </p:spPr>
      </p:sp>
      <p:sp>
        <p:nvSpPr>
          <p:cNvPr id="97" name="Text 95"/>
          <p:cNvSpPr/>
          <p:nvPr/>
        </p:nvSpPr>
        <p:spPr>
          <a:xfrm>
            <a:off x="8001000" y="5779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centre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7863840" y="6217920"/>
            <a:ext cx="82296" cy="82296"/>
          </a:xfrm>
          <a:prstGeom prst="roundRect">
            <a:avLst>
              <a:gd name="adj" fmla="val 22222"/>
            </a:avLst>
          </a:prstGeom>
          <a:solidFill>
            <a:srgbClr val="64748B"/>
          </a:solidFill>
          <a:ln/>
        </p:spPr>
      </p:sp>
      <p:sp>
        <p:nvSpPr>
          <p:cNvPr id="99" name="Text 97"/>
          <p:cNvSpPr/>
          <p:nvPr/>
        </p:nvSpPr>
        <p:spPr>
          <a:xfrm>
            <a:off x="8001000" y="616305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B2D4F"/>
          </a:solidFill>
          <a:ln/>
        </p:spPr>
      </p:sp>
      <p:sp>
        <p:nvSpPr>
          <p:cNvPr id="101" name="Text 99"/>
          <p:cNvSpPr/>
          <p:nvPr/>
        </p:nvSpPr>
        <p:spPr>
          <a:xfrm>
            <a:off x="365760" y="65836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8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Haleelo Tower — Platform Implementation Plan  |  Confidential</a:t>
            </a:r>
            <a:endParaRPr lang="en-US" sz="700" dirty="0"/>
          </a:p>
        </p:txBody>
      </p:sp>
      <p:sp>
        <p:nvSpPr>
          <p:cNvPr id="102" name="Text 100"/>
          <p:cNvSpPr/>
          <p:nvPr/>
        </p:nvSpPr>
        <p:spPr>
          <a:xfrm>
            <a:off x="11704320" y="6583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9A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9A05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28600"/>
            <a:ext cx="54864" cy="365760"/>
          </a:xfrm>
          <a:prstGeom prst="rect">
            <a:avLst/>
          </a:prstGeom>
          <a:solidFill>
            <a:srgbClr val="C9A05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Conference Room Booking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56692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public enquiry to confirmed booking — fully automated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789920" y="164592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C9A052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0" y="16459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2D4F"/>
                </a:solidFill>
              </a:rPr>
              <a:t>02  FEATURES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417320" y="1828800"/>
            <a:ext cx="822960" cy="0"/>
          </a:xfrm>
          <a:prstGeom prst="line">
            <a:avLst/>
          </a:prstGeom>
          <a:noFill/>
          <a:ln w="19050">
            <a:solidFill>
              <a:srgbClr val="A080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1417320"/>
            <a:ext cx="822960" cy="822960"/>
          </a:xfrm>
          <a:prstGeom prst="ellipse">
            <a:avLst/>
          </a:prstGeom>
          <a:solidFill>
            <a:srgbClr val="1B2D4F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4173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74320" y="23774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01568" y="1828800"/>
            <a:ext cx="822960" cy="0"/>
          </a:xfrm>
          <a:prstGeom prst="line">
            <a:avLst/>
          </a:prstGeom>
          <a:noFill/>
          <a:ln w="19050">
            <a:solidFill>
              <a:srgbClr val="A08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78608" y="1417320"/>
            <a:ext cx="822960" cy="8229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2578608" y="14173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258568" y="23774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Room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Add-ons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385816" y="1828800"/>
            <a:ext cx="822960" cy="0"/>
          </a:xfrm>
          <a:prstGeom prst="line">
            <a:avLst/>
          </a:prstGeom>
          <a:noFill/>
          <a:ln w="19050">
            <a:solidFill>
              <a:srgbClr val="A080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62856" y="1417320"/>
            <a:ext cx="822960" cy="8229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4562856" y="14173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242816" y="23774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Form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370064" y="1828800"/>
            <a:ext cx="822960" cy="0"/>
          </a:xfrm>
          <a:prstGeom prst="line">
            <a:avLst/>
          </a:prstGeom>
          <a:noFill/>
          <a:ln w="19050">
            <a:solidFill>
              <a:srgbClr val="A080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47104" y="1417320"/>
            <a:ext cx="822960" cy="822960"/>
          </a:xfrm>
          <a:prstGeom prst="ellipse">
            <a:avLst/>
          </a:prstGeom>
          <a:solidFill>
            <a:srgbClr val="C9A052"/>
          </a:solidFill>
          <a:ln/>
        </p:spPr>
      </p:sp>
      <p:sp>
        <p:nvSpPr>
          <p:cNvPr id="23" name="Text 21"/>
          <p:cNvSpPr/>
          <p:nvPr/>
        </p:nvSpPr>
        <p:spPr>
          <a:xfrm>
            <a:off x="6547104" y="14173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227064" y="23774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354312" y="1828800"/>
            <a:ext cx="822960" cy="0"/>
          </a:xfrm>
          <a:prstGeom prst="line">
            <a:avLst/>
          </a:prstGeom>
          <a:noFill/>
          <a:ln w="19050">
            <a:solidFill>
              <a:srgbClr val="A0804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31352" y="1417320"/>
            <a:ext cx="822960" cy="8229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7" name="Text 25"/>
          <p:cNvSpPr/>
          <p:nvPr/>
        </p:nvSpPr>
        <p:spPr>
          <a:xfrm>
            <a:off x="8531352" y="14173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211312" y="23774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0515600" y="1417320"/>
            <a:ext cx="822960" cy="8229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0" name="Text 28"/>
          <p:cNvSpPr/>
          <p:nvPr/>
        </p:nvSpPr>
        <p:spPr>
          <a:xfrm>
            <a:off x="10515600" y="14173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0195560" y="23774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of Event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3200400"/>
            <a:ext cx="37490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12">
                <a:alpha val="7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3246120"/>
            <a:ext cx="45720" cy="1280160"/>
          </a:xfrm>
          <a:prstGeom prst="rect">
            <a:avLst/>
          </a:prstGeom>
          <a:solidFill>
            <a:srgbClr val="1B2D4F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33101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Calendar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2920" y="365760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availability visible to anyone — no double-bookings, ever.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251960" y="3200400"/>
            <a:ext cx="37490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12">
                <a:alpha val="7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251960" y="3246120"/>
            <a:ext cx="45720" cy="1280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8" name="Text 36"/>
          <p:cNvSpPr/>
          <p:nvPr/>
        </p:nvSpPr>
        <p:spPr>
          <a:xfrm>
            <a:off x="4480560" y="33101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Pricing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480560" y="365760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Half-day, full-day, per-session rates. Per-tenant custom pricing.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229600" y="3200400"/>
            <a:ext cx="37490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12">
                <a:alpha val="7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229600" y="3246120"/>
            <a:ext cx="45720" cy="12801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2" name="Text 40"/>
          <p:cNvSpPr/>
          <p:nvPr/>
        </p:nvSpPr>
        <p:spPr>
          <a:xfrm>
            <a:off x="8458200" y="33101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 Services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458200" y="365760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Catering, AV equipment, parking — booked and billed alongside the room.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74320" y="4754880"/>
            <a:ext cx="37490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12">
                <a:alpha val="7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274320" y="4800600"/>
            <a:ext cx="45720" cy="1280160"/>
          </a:xfrm>
          <a:prstGeom prst="rect">
            <a:avLst/>
          </a:prstGeom>
          <a:solidFill>
            <a:srgbClr val="C9A052"/>
          </a:solidFill>
          <a:ln/>
        </p:spPr>
      </p:sp>
      <p:sp>
        <p:nvSpPr>
          <p:cNvPr id="46" name="Text 44"/>
          <p:cNvSpPr/>
          <p:nvPr/>
        </p:nvSpPr>
        <p:spPr>
          <a:xfrm>
            <a:off x="502920" y="48646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LPO Support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02920" y="521208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corporate bookings with Local Purchase Orders — matched to invoices automatically.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251960" y="4754880"/>
            <a:ext cx="37490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12">
                <a:alpha val="7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251960" y="4800600"/>
            <a:ext cx="45720" cy="12801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0" name="Text 48"/>
          <p:cNvSpPr/>
          <p:nvPr/>
        </p:nvSpPr>
        <p:spPr>
          <a:xfrm>
            <a:off x="4480560" y="48646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Confirmations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480560" y="521208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confirmations and payment reminders sent automatically by email.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8229600" y="4754880"/>
            <a:ext cx="37490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12">
                <a:alpha val="7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8229600" y="4800600"/>
            <a:ext cx="45720" cy="12801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4" name="Text 52"/>
          <p:cNvSpPr/>
          <p:nvPr/>
        </p:nvSpPr>
        <p:spPr>
          <a:xfrm>
            <a:off x="8458200" y="48646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Policy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8458200" y="521208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cancellation windows and penalty rules enforced by the system.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B2D4F"/>
          </a:solidFill>
          <a:ln/>
        </p:spPr>
      </p:sp>
      <p:sp>
        <p:nvSpPr>
          <p:cNvPr id="57" name="Text 55"/>
          <p:cNvSpPr/>
          <p:nvPr/>
        </p:nvSpPr>
        <p:spPr>
          <a:xfrm>
            <a:off x="365760" y="65836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8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Haleelo Tower — Platform Implementation Plan  |  Confidential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11704320" y="6583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9A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9A05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28600"/>
            <a:ext cx="54864" cy="365760"/>
          </a:xfrm>
          <a:prstGeom prst="rect">
            <a:avLst/>
          </a:prstGeom>
          <a:solidFill>
            <a:srgbClr val="C9A05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Invoicing Module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56692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financial visibility — from invoice creation to payment confirmation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789920" y="164592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C9A052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0" y="16459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2D4F"/>
                </a:solidFill>
              </a:rPr>
              <a:t>02  FEATURES</a:t>
            </a:r>
            <a:endParaRPr lang="en-US" sz="7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274320" y="960120"/>
          <a:ext cx="68580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7406640" y="960120"/>
            <a:ext cx="457200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12">
                <a:alpha val="7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406640" y="960120"/>
            <a:ext cx="45720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10515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$48,250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406640" y="143560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Revenue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406640" y="1618488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 vs Apr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7406640" y="1965960"/>
            <a:ext cx="457200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12">
                <a:alpha val="7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406640" y="1965960"/>
            <a:ext cx="45720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7406640" y="20574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7406640" y="244144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Rate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406640" y="2624328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88% avg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7406640" y="2971800"/>
            <a:ext cx="457200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12">
                <a:alpha val="7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406640" y="2971800"/>
            <a:ext cx="4572000" cy="45720"/>
          </a:xfrm>
          <a:prstGeom prst="rect">
            <a:avLst/>
          </a:prstGeom>
          <a:solidFill>
            <a:srgbClr val="C9A052"/>
          </a:solidFill>
          <a:ln/>
        </p:spPr>
      </p:sp>
      <p:sp>
        <p:nvSpPr>
          <p:cNvPr id="22" name="Text 19"/>
          <p:cNvSpPr/>
          <p:nvPr/>
        </p:nvSpPr>
        <p:spPr>
          <a:xfrm>
            <a:off x="7406640" y="30632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$14,500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7406640" y="344728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Deposits Held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406640" y="3630168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tenants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7406640" y="3977640"/>
            <a:ext cx="457200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12">
                <a:alpha val="7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7406640" y="3977640"/>
            <a:ext cx="457200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Text 24"/>
          <p:cNvSpPr/>
          <p:nvPr/>
        </p:nvSpPr>
        <p:spPr>
          <a:xfrm>
            <a:off x="7406640" y="40690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7406640" y="445312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7406640" y="4636008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$2,650 at risk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274320" y="4434840"/>
            <a:ext cx="56692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12">
                <a:alpha val="75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274320" y="4480560"/>
            <a:ext cx="45720" cy="868680"/>
          </a:xfrm>
          <a:prstGeom prst="rect">
            <a:avLst/>
          </a:prstGeom>
          <a:solidFill>
            <a:srgbClr val="C9A052"/>
          </a:solidFill>
          <a:ln/>
        </p:spPr>
      </p:sp>
      <p:sp>
        <p:nvSpPr>
          <p:cNvPr id="32" name="Text 29"/>
          <p:cNvSpPr/>
          <p:nvPr/>
        </p:nvSpPr>
        <p:spPr>
          <a:xfrm>
            <a:off x="502920" y="452628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Invoice Generation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02920" y="4837176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created automatically at each billing cycle start — zero manual effort.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6217920" y="4434840"/>
            <a:ext cx="56692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12">
                <a:alpha val="75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6217920" y="4480560"/>
            <a:ext cx="45720" cy="868680"/>
          </a:xfrm>
          <a:prstGeom prst="rect">
            <a:avLst/>
          </a:prstGeom>
          <a:solidFill>
            <a:srgbClr val="C9A052"/>
          </a:solidFill>
          <a:ln/>
        </p:spPr>
      </p:sp>
      <p:sp>
        <p:nvSpPr>
          <p:cNvPr id="36" name="Text 33"/>
          <p:cNvSpPr/>
          <p:nvPr/>
        </p:nvSpPr>
        <p:spPr>
          <a:xfrm>
            <a:off x="6446520" y="452628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LPO Management Queue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6446520" y="4837176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clients submit LPOs; the system matches them to invoices automatically.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274320" y="5532120"/>
            <a:ext cx="56692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12">
                <a:alpha val="75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274320" y="5577840"/>
            <a:ext cx="45720" cy="868680"/>
          </a:xfrm>
          <a:prstGeom prst="rect">
            <a:avLst/>
          </a:prstGeom>
          <a:solidFill>
            <a:srgbClr val="C9A052"/>
          </a:solidFill>
          <a:ln/>
        </p:spPr>
      </p:sp>
      <p:sp>
        <p:nvSpPr>
          <p:cNvPr id="40" name="Text 37"/>
          <p:cNvSpPr/>
          <p:nvPr/>
        </p:nvSpPr>
        <p:spPr>
          <a:xfrm>
            <a:off x="502920" y="562356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Deposits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502920" y="5934456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tenant's held deposit is tracked and released cleanly on lease end.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6217920" y="5532120"/>
            <a:ext cx="56692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12">
                <a:alpha val="75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6217920" y="5577840"/>
            <a:ext cx="45720" cy="868680"/>
          </a:xfrm>
          <a:prstGeom prst="rect">
            <a:avLst/>
          </a:prstGeom>
          <a:solidFill>
            <a:srgbClr val="C9A052"/>
          </a:solidFill>
          <a:ln/>
        </p:spPr>
      </p:sp>
      <p:sp>
        <p:nvSpPr>
          <p:cNvPr id="44" name="Text 41"/>
          <p:cNvSpPr/>
          <p:nvPr/>
        </p:nvSpPr>
        <p:spPr>
          <a:xfrm>
            <a:off x="6446520" y="562356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Payment Methods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6446520" y="5934456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transfer, Zaad, Edahab and cheque — all recorded in one place.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B2D4F"/>
          </a:solidFill>
          <a:ln/>
        </p:spPr>
      </p:sp>
      <p:sp>
        <p:nvSpPr>
          <p:cNvPr id="47" name="Text 44"/>
          <p:cNvSpPr/>
          <p:nvPr/>
        </p:nvSpPr>
        <p:spPr>
          <a:xfrm>
            <a:off x="365760" y="65836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8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Haleelo Tower — Platform Implementation Plan  |  Confidential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11704320" y="6583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9A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9A05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28600"/>
            <a:ext cx="54864" cy="365760"/>
          </a:xfrm>
          <a:prstGeom prst="rect">
            <a:avLst/>
          </a:prstGeom>
          <a:solidFill>
            <a:srgbClr val="C9A05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Management Module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56692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payroll for all building staff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789920" y="164592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C9A052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0" y="16459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2D4F"/>
                </a:solidFill>
              </a:rPr>
              <a:t>02  FEATURES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74320" y="960120"/>
            <a:ext cx="56692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12">
                <a:alpha val="7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207008"/>
            <a:ext cx="457200" cy="457200"/>
          </a:xfrm>
          <a:prstGeom prst="ellipse">
            <a:avLst/>
          </a:prstGeom>
          <a:solidFill>
            <a:srgbClr val="1B2D4F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207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05840" y="105156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Profiles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1362456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contracts, roles, salaries and start dates for every staff member.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075688"/>
            <a:ext cx="56692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12">
                <a:alpha val="7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322576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23225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05840" y="216712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Tracking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2478024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log of Present, Absent, Leave. Overtime tracked automatically.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191256"/>
            <a:ext cx="56692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12">
                <a:alpha val="7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3438144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4381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05840" y="328269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Deductions &amp; Overtime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359359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rules for late arrivals, unpaid leave and overtime pay.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4306824"/>
            <a:ext cx="56692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12">
                <a:alpha val="7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4553712"/>
            <a:ext cx="457200" cy="457200"/>
          </a:xfrm>
          <a:prstGeom prst="ellipse">
            <a:avLst/>
          </a:prstGeom>
          <a:solidFill>
            <a:srgbClr val="C9A052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4553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05840" y="439826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Payslip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" y="47091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calculates net pay and generates a printable payslip each cycle.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5422392"/>
            <a:ext cx="56692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12">
                <a:alpha val="7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11480" y="566928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1" name="Text 29"/>
          <p:cNvSpPr/>
          <p:nvPr/>
        </p:nvSpPr>
        <p:spPr>
          <a:xfrm>
            <a:off x="411480" y="5669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05840" y="551383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Delivery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05840" y="5824728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Payslips sent to each employee by WhatsApp or email — no printing needed.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400800" y="960120"/>
            <a:ext cx="5486400" cy="3200400"/>
          </a:xfrm>
          <a:prstGeom prst="roundRect">
            <a:avLst>
              <a:gd name="adj" fmla="val 3429"/>
            </a:avLst>
          </a:prstGeom>
          <a:solidFill>
            <a:srgbClr val="1B2D4F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0" y="1051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Cost Breakdown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00800" y="1371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  ·  8 Employees  ·  $6,420 Total</a:t>
            </a:r>
            <a:endParaRPr lang="en-US" sz="900" dirty="0"/>
          </a:p>
        </p:txBody>
      </p:sp>
      <p:graphicFrame>
        <p:nvGraphicFramePr>
          <p:cNvPr id="37" name="Chart 0" descr=""/>
          <p:cNvGraphicFramePr/>
          <p:nvPr/>
        </p:nvGraphicFramePr>
        <p:xfrm>
          <a:off x="6858000" y="1691640"/>
          <a:ext cx="45720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8" name="Shape 35"/>
          <p:cNvSpPr/>
          <p:nvPr/>
        </p:nvSpPr>
        <p:spPr>
          <a:xfrm>
            <a:off x="6400800" y="4389120"/>
            <a:ext cx="5486400" cy="621792"/>
          </a:xfrm>
          <a:prstGeom prst="roundRect">
            <a:avLst>
              <a:gd name="adj" fmla="val 17647"/>
            </a:avLst>
          </a:prstGeom>
          <a:solidFill>
            <a:srgbClr val="1B2D4F"/>
          </a:solidFill>
          <a:ln/>
        </p:spPr>
      </p:sp>
      <p:sp>
        <p:nvSpPr>
          <p:cNvPr id="39" name="Text 36"/>
          <p:cNvSpPr/>
          <p:nvPr/>
        </p:nvSpPr>
        <p:spPr>
          <a:xfrm>
            <a:off x="6583680" y="448056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Staff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0607040" y="448056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$3,145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6583680" y="4736592"/>
            <a:ext cx="5120640" cy="128016"/>
          </a:xfrm>
          <a:prstGeom prst="roundRect">
            <a:avLst>
              <a:gd name="adj" fmla="val 50000"/>
            </a:avLst>
          </a:prstGeom>
          <a:solidFill>
            <a:srgbClr val="2A3F58"/>
          </a:solidFill>
          <a:ln/>
        </p:spPr>
      </p:sp>
      <p:sp>
        <p:nvSpPr>
          <p:cNvPr id="42" name="Shape 39"/>
          <p:cNvSpPr/>
          <p:nvPr/>
        </p:nvSpPr>
        <p:spPr>
          <a:xfrm>
            <a:off x="6583680" y="4736592"/>
            <a:ext cx="2509114" cy="128016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43" name="Shape 40"/>
          <p:cNvSpPr/>
          <p:nvPr/>
        </p:nvSpPr>
        <p:spPr>
          <a:xfrm>
            <a:off x="6400800" y="5102352"/>
            <a:ext cx="5486400" cy="621792"/>
          </a:xfrm>
          <a:prstGeom prst="roundRect">
            <a:avLst>
              <a:gd name="adj" fmla="val 17647"/>
            </a:avLst>
          </a:prstGeom>
          <a:solidFill>
            <a:srgbClr val="1B2D4F"/>
          </a:solidFill>
          <a:ln/>
        </p:spPr>
      </p:sp>
      <p:sp>
        <p:nvSpPr>
          <p:cNvPr id="44" name="Text 41"/>
          <p:cNvSpPr/>
          <p:nvPr/>
        </p:nvSpPr>
        <p:spPr>
          <a:xfrm>
            <a:off x="6583680" y="519379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10607040" y="519379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$2,050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6583680" y="5449824"/>
            <a:ext cx="5120640" cy="128016"/>
          </a:xfrm>
          <a:prstGeom prst="roundRect">
            <a:avLst>
              <a:gd name="adj" fmla="val 50000"/>
            </a:avLst>
          </a:prstGeom>
          <a:solidFill>
            <a:srgbClr val="2A3F58"/>
          </a:solidFill>
          <a:ln/>
        </p:spPr>
      </p:sp>
      <p:sp>
        <p:nvSpPr>
          <p:cNvPr id="47" name="Shape 44"/>
          <p:cNvSpPr/>
          <p:nvPr/>
        </p:nvSpPr>
        <p:spPr>
          <a:xfrm>
            <a:off x="6583680" y="5449824"/>
            <a:ext cx="1638605" cy="128016"/>
          </a:xfrm>
          <a:prstGeom prst="roundRect">
            <a:avLst>
              <a:gd name="adj" fmla="val 50000"/>
            </a:avLst>
          </a:prstGeom>
          <a:solidFill>
            <a:srgbClr val="C9A052"/>
          </a:solidFill>
          <a:ln/>
        </p:spPr>
      </p:sp>
      <p:sp>
        <p:nvSpPr>
          <p:cNvPr id="48" name="Shape 45"/>
          <p:cNvSpPr/>
          <p:nvPr/>
        </p:nvSpPr>
        <p:spPr>
          <a:xfrm>
            <a:off x="6400800" y="5815584"/>
            <a:ext cx="5486400" cy="621792"/>
          </a:xfrm>
          <a:prstGeom prst="roundRect">
            <a:avLst>
              <a:gd name="adj" fmla="val 17647"/>
            </a:avLst>
          </a:prstGeom>
          <a:solidFill>
            <a:srgbClr val="1B2D4F"/>
          </a:solidFill>
          <a:ln/>
        </p:spPr>
      </p:sp>
      <p:sp>
        <p:nvSpPr>
          <p:cNvPr id="49" name="Text 46"/>
          <p:cNvSpPr/>
          <p:nvPr/>
        </p:nvSpPr>
        <p:spPr>
          <a:xfrm>
            <a:off x="6583680" y="590702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Cafeteria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10607040" y="590702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$1,225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6583680" y="6163056"/>
            <a:ext cx="5120640" cy="128016"/>
          </a:xfrm>
          <a:prstGeom prst="roundRect">
            <a:avLst>
              <a:gd name="adj" fmla="val 50000"/>
            </a:avLst>
          </a:prstGeom>
          <a:solidFill>
            <a:srgbClr val="2A3F58"/>
          </a:solidFill>
          <a:ln/>
        </p:spPr>
      </p:sp>
      <p:sp>
        <p:nvSpPr>
          <p:cNvPr id="52" name="Shape 49"/>
          <p:cNvSpPr/>
          <p:nvPr/>
        </p:nvSpPr>
        <p:spPr>
          <a:xfrm>
            <a:off x="6583680" y="6163056"/>
            <a:ext cx="972922" cy="128016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/>
        </p:spPr>
      </p:sp>
      <p:sp>
        <p:nvSpPr>
          <p:cNvPr id="53" name="Shape 50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B2D4F"/>
          </a:solidFill>
          <a:ln/>
        </p:spPr>
      </p:sp>
      <p:sp>
        <p:nvSpPr>
          <p:cNvPr id="54" name="Text 51"/>
          <p:cNvSpPr/>
          <p:nvPr/>
        </p:nvSpPr>
        <p:spPr>
          <a:xfrm>
            <a:off x="365760" y="65836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8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Haleelo Tower — Platform Implementation Plan  |  Confidential</a:t>
            </a:r>
            <a:endParaRPr lang="en-US" sz="700" dirty="0"/>
          </a:p>
        </p:txBody>
      </p:sp>
      <p:sp>
        <p:nvSpPr>
          <p:cNvPr id="55" name="Text 52"/>
          <p:cNvSpPr/>
          <p:nvPr/>
        </p:nvSpPr>
        <p:spPr>
          <a:xfrm>
            <a:off x="11704320" y="6583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9A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9A05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28600"/>
            <a:ext cx="54864" cy="365760"/>
          </a:xfrm>
          <a:prstGeom prst="rect">
            <a:avLst/>
          </a:prstGeom>
          <a:solidFill>
            <a:srgbClr val="C9A05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Analytics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56692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dashboards and automated reports — no more manual spreadsheets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789920" y="164592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C9A052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0" y="16459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2D4F"/>
                </a:solidFill>
              </a:rPr>
              <a:t>02  FEATURES</a:t>
            </a:r>
            <a:endParaRPr lang="en-US" sz="7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274320" y="960120"/>
          <a:ext cx="71323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7589520" y="960120"/>
            <a:ext cx="438912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12">
                <a:alpha val="7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589520" y="960120"/>
            <a:ext cx="4389120" cy="54864"/>
          </a:xfrm>
          <a:prstGeom prst="rect">
            <a:avLst/>
          </a:prstGeom>
          <a:solidFill>
            <a:srgbClr val="1B2D4F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0" y="10515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Overview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772400" y="1380744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occupancy, bookings at a glance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589520" y="2075688"/>
            <a:ext cx="438912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12">
                <a:alpha val="7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589520" y="2075688"/>
            <a:ext cx="438912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0" y="216712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Occupancy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772400" y="249631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floors and units are vacant today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7589520" y="3191256"/>
            <a:ext cx="438912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12">
                <a:alpha val="7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589520" y="3191256"/>
            <a:ext cx="4389120" cy="54864"/>
          </a:xfrm>
          <a:prstGeom prst="rect">
            <a:avLst/>
          </a:prstGeom>
          <a:solidFill>
            <a:srgbClr val="C9A052"/>
          </a:solidFill>
          <a:ln/>
        </p:spPr>
      </p:sp>
      <p:sp>
        <p:nvSpPr>
          <p:cNvPr id="20" name="Text 17"/>
          <p:cNvSpPr/>
          <p:nvPr/>
        </p:nvSpPr>
        <p:spPr>
          <a:xfrm>
            <a:off x="7772400" y="328269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Summary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772400" y="36118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Invoices, collections, overdue balances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7589520" y="4306824"/>
            <a:ext cx="438912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12">
                <a:alpha val="7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589520" y="4306824"/>
            <a:ext cx="438912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4" name="Text 21"/>
          <p:cNvSpPr/>
          <p:nvPr/>
        </p:nvSpPr>
        <p:spPr>
          <a:xfrm>
            <a:off x="7772400" y="439826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Report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772400" y="472744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payslips and cost per department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7589520" y="5422392"/>
            <a:ext cx="438912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12">
                <a:alpha val="7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589520" y="5422392"/>
            <a:ext cx="43891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Text 25"/>
          <p:cNvSpPr/>
          <p:nvPr/>
        </p:nvSpPr>
        <p:spPr>
          <a:xfrm>
            <a:off x="7772400" y="55138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Demand Analysis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772400" y="5843016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Busiest times for conference rooms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274320" y="4343400"/>
            <a:ext cx="7132320" cy="822960"/>
          </a:xfrm>
          <a:prstGeom prst="roundRect">
            <a:avLst>
              <a:gd name="adj" fmla="val 11111"/>
            </a:avLst>
          </a:prstGeom>
          <a:solidFill>
            <a:srgbClr val="1B2D4F"/>
          </a:solidFill>
          <a:ln/>
        </p:spPr>
      </p:sp>
      <p:sp>
        <p:nvSpPr>
          <p:cNvPr id="31" name="Text 28"/>
          <p:cNvSpPr/>
          <p:nvPr/>
        </p:nvSpPr>
        <p:spPr>
          <a:xfrm>
            <a:off x="457200" y="44074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Email Reports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57200" y="46634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automatically emails a PDF summary to management every month — no login required.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274320" y="5349240"/>
            <a:ext cx="27432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12">
                <a:alpha val="75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274320" y="5349240"/>
            <a:ext cx="2743200" cy="45720"/>
          </a:xfrm>
          <a:prstGeom prst="rect">
            <a:avLst/>
          </a:prstGeom>
          <a:solidFill>
            <a:srgbClr val="C9A052"/>
          </a:solidFill>
          <a:ln/>
        </p:spPr>
      </p:sp>
      <p:sp>
        <p:nvSpPr>
          <p:cNvPr id="35" name="Text 32"/>
          <p:cNvSpPr/>
          <p:nvPr/>
        </p:nvSpPr>
        <p:spPr>
          <a:xfrm>
            <a:off x="274320" y="54406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2200" dirty="0"/>
          </a:p>
        </p:txBody>
      </p:sp>
      <p:sp>
        <p:nvSpPr>
          <p:cNvPr id="36" name="Text 33"/>
          <p:cNvSpPr/>
          <p:nvPr/>
        </p:nvSpPr>
        <p:spPr>
          <a:xfrm>
            <a:off x="274320" y="582472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3246120" y="5349240"/>
            <a:ext cx="27432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12">
                <a:alpha val="75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3246120" y="5349240"/>
            <a:ext cx="27432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9" name="Text 36"/>
          <p:cNvSpPr/>
          <p:nvPr/>
        </p:nvSpPr>
        <p:spPr>
          <a:xfrm>
            <a:off x="3246120" y="54406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$144.7K</a:t>
            </a:r>
            <a:endParaRPr lang="en-US" sz="2200" dirty="0"/>
          </a:p>
        </p:txBody>
      </p:sp>
      <p:sp>
        <p:nvSpPr>
          <p:cNvPr id="40" name="Text 37"/>
          <p:cNvSpPr/>
          <p:nvPr/>
        </p:nvSpPr>
        <p:spPr>
          <a:xfrm>
            <a:off x="3246120" y="582472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Revenue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6217920" y="5349240"/>
            <a:ext cx="27432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12">
                <a:alpha val="75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217920" y="5349240"/>
            <a:ext cx="27432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3" name="Text 40"/>
          <p:cNvSpPr/>
          <p:nvPr/>
        </p:nvSpPr>
        <p:spPr>
          <a:xfrm>
            <a:off x="6217920" y="54406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214</a:t>
            </a:r>
            <a:endParaRPr lang="en-US" sz="2200" dirty="0"/>
          </a:p>
        </p:txBody>
      </p:sp>
      <p:sp>
        <p:nvSpPr>
          <p:cNvPr id="44" name="Text 41"/>
          <p:cNvSpPr/>
          <p:nvPr/>
        </p:nvSpPr>
        <p:spPr>
          <a:xfrm>
            <a:off x="6217920" y="582472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Bookings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9189720" y="5349240"/>
            <a:ext cx="27432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12">
                <a:alpha val="75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9189720" y="5349240"/>
            <a:ext cx="274320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7" name="Text 44"/>
          <p:cNvSpPr/>
          <p:nvPr/>
        </p:nvSpPr>
        <p:spPr>
          <a:xfrm>
            <a:off x="9189720" y="54406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2200" dirty="0"/>
          </a:p>
        </p:txBody>
      </p:sp>
      <p:sp>
        <p:nvSpPr>
          <p:cNvPr id="48" name="Text 45"/>
          <p:cNvSpPr/>
          <p:nvPr/>
        </p:nvSpPr>
        <p:spPr>
          <a:xfrm>
            <a:off x="9189720" y="582472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Rate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B2D4F"/>
          </a:solidFill>
          <a:ln/>
        </p:spPr>
      </p:sp>
      <p:sp>
        <p:nvSpPr>
          <p:cNvPr id="50" name="Text 47"/>
          <p:cNvSpPr/>
          <p:nvPr/>
        </p:nvSpPr>
        <p:spPr>
          <a:xfrm>
            <a:off x="365760" y="65836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8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Haleelo Tower — Platform Implementation Plan  |  Confidential</a:t>
            </a:r>
            <a:endParaRPr lang="en-US" sz="700" dirty="0"/>
          </a:p>
        </p:txBody>
      </p:sp>
      <p:sp>
        <p:nvSpPr>
          <p:cNvPr id="51" name="Text 48"/>
          <p:cNvSpPr/>
          <p:nvPr/>
        </p:nvSpPr>
        <p:spPr>
          <a:xfrm>
            <a:off x="11704320" y="6583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9A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D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9A052"/>
          </a:solidFill>
          <a:ln/>
        </p:spPr>
      </p:sp>
      <p:sp>
        <p:nvSpPr>
          <p:cNvPr id="4" name="Shape 2"/>
          <p:cNvSpPr/>
          <p:nvPr/>
        </p:nvSpPr>
        <p:spPr>
          <a:xfrm>
            <a:off x="10789920" y="164592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C9A052"/>
          </a:solidFill>
          <a:ln/>
        </p:spPr>
      </p:sp>
      <p:sp>
        <p:nvSpPr>
          <p:cNvPr id="5" name="Text 3"/>
          <p:cNvSpPr/>
          <p:nvPr/>
        </p:nvSpPr>
        <p:spPr>
          <a:xfrm>
            <a:off x="10789920" y="16459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2D4F"/>
                </a:solidFill>
              </a:rPr>
              <a:t>03  TIMELINE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Timeline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7498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6-week phased delivery — from design to go-live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874520"/>
            <a:ext cx="10789920" cy="0"/>
          </a:xfrm>
          <a:prstGeom prst="line">
            <a:avLst/>
          </a:prstGeom>
          <a:noFill/>
          <a:ln w="19050">
            <a:solidFill>
              <a:srgbClr val="A08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53312" y="1764792"/>
            <a:ext cx="219456" cy="21945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Shape 8"/>
          <p:cNvSpPr/>
          <p:nvPr/>
        </p:nvSpPr>
        <p:spPr>
          <a:xfrm>
            <a:off x="1463040" y="1984248"/>
            <a:ext cx="0" cy="274320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42646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2286000"/>
            <a:ext cx="2194560" cy="4160520"/>
          </a:xfrm>
          <a:prstGeom prst="roundRect">
            <a:avLst>
              <a:gd name="adj" fmla="val 4167"/>
            </a:avLst>
          </a:prstGeom>
          <a:solidFill>
            <a:srgbClr val="1E324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286000"/>
            <a:ext cx="21945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39572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Design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0352" y="3163824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09067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 approved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30352" y="3950208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87705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 finalised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30352" y="4736592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6634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designed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30352" y="5522976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5449824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environment set up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85032" y="1764792"/>
            <a:ext cx="219456" cy="21945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" name="Shape 22"/>
          <p:cNvSpPr/>
          <p:nvPr/>
        </p:nvSpPr>
        <p:spPr>
          <a:xfrm>
            <a:off x="3794760" y="1984248"/>
            <a:ext cx="0" cy="27432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97480" y="142646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697480" y="2286000"/>
            <a:ext cx="2194560" cy="4160520"/>
          </a:xfrm>
          <a:prstGeom prst="roundRect">
            <a:avLst>
              <a:gd name="adj" fmla="val 4167"/>
            </a:avLst>
          </a:prstGeom>
          <a:solidFill>
            <a:srgbClr val="1E324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97480" y="2286000"/>
            <a:ext cx="21945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2788920" y="239572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862072" y="3163824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3017520" y="309067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live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862072" y="3950208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3017520" y="387705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calendar working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862072" y="4736592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3017520" y="46634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portal built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862072" y="5522976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3017520" y="5449824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module (invoices)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016752" y="1764792"/>
            <a:ext cx="219456" cy="219456"/>
          </a:xfrm>
          <a:prstGeom prst="ellipse">
            <a:avLst/>
          </a:prstGeom>
          <a:solidFill>
            <a:srgbClr val="C9A052"/>
          </a:solidFill>
          <a:ln/>
        </p:spPr>
      </p:sp>
      <p:sp>
        <p:nvSpPr>
          <p:cNvPr id="38" name="Shape 36"/>
          <p:cNvSpPr/>
          <p:nvPr/>
        </p:nvSpPr>
        <p:spPr>
          <a:xfrm>
            <a:off x="6126480" y="1984248"/>
            <a:ext cx="0" cy="274320"/>
          </a:xfrm>
          <a:prstGeom prst="line">
            <a:avLst/>
          </a:prstGeom>
          <a:noFill/>
          <a:ln w="12700">
            <a:solidFill>
              <a:srgbClr val="C9A05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142646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029200" y="2286000"/>
            <a:ext cx="2194560" cy="4160520"/>
          </a:xfrm>
          <a:prstGeom prst="roundRect">
            <a:avLst>
              <a:gd name="adj" fmla="val 4167"/>
            </a:avLst>
          </a:prstGeom>
          <a:solidFill>
            <a:srgbClr val="1E3248"/>
          </a:solidFill>
          <a:ln w="12700">
            <a:solidFill>
              <a:srgbClr val="C9A05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029200" y="2286000"/>
            <a:ext cx="2194560" cy="54864"/>
          </a:xfrm>
          <a:prstGeom prst="rect">
            <a:avLst/>
          </a:prstGeom>
          <a:solidFill>
            <a:srgbClr val="C9A052"/>
          </a:solidFill>
          <a:ln/>
        </p:spPr>
      </p:sp>
      <p:sp>
        <p:nvSpPr>
          <p:cNvPr id="42" name="Text 40"/>
          <p:cNvSpPr/>
          <p:nvPr/>
        </p:nvSpPr>
        <p:spPr>
          <a:xfrm>
            <a:off x="5120640" y="239572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193792" y="3163824"/>
            <a:ext cx="91440" cy="91440"/>
          </a:xfrm>
          <a:prstGeom prst="ellipse">
            <a:avLst/>
          </a:prstGeom>
          <a:solidFill>
            <a:srgbClr val="C9A052"/>
          </a:solidFill>
          <a:ln/>
        </p:spPr>
      </p:sp>
      <p:sp>
        <p:nvSpPr>
          <p:cNvPr id="44" name="Text 42"/>
          <p:cNvSpPr/>
          <p:nvPr/>
        </p:nvSpPr>
        <p:spPr>
          <a:xfrm>
            <a:off x="5349240" y="309067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module complete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193792" y="3950208"/>
            <a:ext cx="91440" cy="91440"/>
          </a:xfrm>
          <a:prstGeom prst="ellipse">
            <a:avLst/>
          </a:prstGeom>
          <a:solidFill>
            <a:srgbClr val="C9A052"/>
          </a:solidFill>
          <a:ln/>
        </p:spPr>
      </p:sp>
      <p:sp>
        <p:nvSpPr>
          <p:cNvPr id="46" name="Text 44"/>
          <p:cNvSpPr/>
          <p:nvPr/>
        </p:nvSpPr>
        <p:spPr>
          <a:xfrm>
            <a:off x="5349240" y="387705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dashboards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193792" y="4736592"/>
            <a:ext cx="91440" cy="91440"/>
          </a:xfrm>
          <a:prstGeom prst="ellipse">
            <a:avLst/>
          </a:prstGeom>
          <a:solidFill>
            <a:srgbClr val="C9A052"/>
          </a:solidFill>
          <a:ln/>
        </p:spPr>
      </p:sp>
      <p:sp>
        <p:nvSpPr>
          <p:cNvPr id="48" name="Text 46"/>
          <p:cNvSpPr/>
          <p:nvPr/>
        </p:nvSpPr>
        <p:spPr>
          <a:xfrm>
            <a:off x="5349240" y="46634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website live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193792" y="5522976"/>
            <a:ext cx="91440" cy="91440"/>
          </a:xfrm>
          <a:prstGeom prst="ellipse">
            <a:avLst/>
          </a:prstGeom>
          <a:solidFill>
            <a:srgbClr val="C9A052"/>
          </a:solidFill>
          <a:ln/>
        </p:spPr>
      </p:sp>
      <p:sp>
        <p:nvSpPr>
          <p:cNvPr id="50" name="Text 48"/>
          <p:cNvSpPr/>
          <p:nvPr/>
        </p:nvSpPr>
        <p:spPr>
          <a:xfrm>
            <a:off x="5349240" y="5449824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integrations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348472" y="1764792"/>
            <a:ext cx="219456" cy="21945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52" name="Shape 50"/>
          <p:cNvSpPr/>
          <p:nvPr/>
        </p:nvSpPr>
        <p:spPr>
          <a:xfrm>
            <a:off x="8458200" y="1984248"/>
            <a:ext cx="0" cy="274320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60920" y="142646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7360920" y="2286000"/>
            <a:ext cx="2194560" cy="4160520"/>
          </a:xfrm>
          <a:prstGeom prst="roundRect">
            <a:avLst>
              <a:gd name="adj" fmla="val 4167"/>
            </a:avLst>
          </a:prstGeom>
          <a:solidFill>
            <a:srgbClr val="1E3248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360920" y="2286000"/>
            <a:ext cx="219456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6" name="Text 54"/>
          <p:cNvSpPr/>
          <p:nvPr/>
        </p:nvSpPr>
        <p:spPr>
          <a:xfrm>
            <a:off x="7452360" y="239572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Testing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7525512" y="3163824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58" name="Text 56"/>
          <p:cNvSpPr/>
          <p:nvPr/>
        </p:nvSpPr>
        <p:spPr>
          <a:xfrm>
            <a:off x="7680960" y="309067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WhatsApp alerts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525512" y="3950208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0" name="Text 58"/>
          <p:cNvSpPr/>
          <p:nvPr/>
        </p:nvSpPr>
        <p:spPr>
          <a:xfrm>
            <a:off x="7680960" y="387705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user testing (UAT)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525512" y="4736592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2" name="Text 60"/>
          <p:cNvSpPr/>
          <p:nvPr/>
        </p:nvSpPr>
        <p:spPr>
          <a:xfrm>
            <a:off x="7680960" y="46634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fixes &amp; polish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525512" y="5522976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4" name="Text 62"/>
          <p:cNvSpPr/>
          <p:nvPr/>
        </p:nvSpPr>
        <p:spPr>
          <a:xfrm>
            <a:off x="7680960" y="5449824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training sessions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10680192" y="1764792"/>
            <a:ext cx="219456" cy="21945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6" name="Shape 64"/>
          <p:cNvSpPr/>
          <p:nvPr/>
        </p:nvSpPr>
        <p:spPr>
          <a:xfrm>
            <a:off x="10789920" y="1984248"/>
            <a:ext cx="0" cy="274320"/>
          </a:xfrm>
          <a:prstGeom prst="line">
            <a:avLst/>
          </a:prstGeom>
          <a:noFill/>
          <a:ln w="12700">
            <a:solidFill>
              <a:srgbClr val="EF444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692640" y="142646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9692640" y="2286000"/>
            <a:ext cx="2194560" cy="4160520"/>
          </a:xfrm>
          <a:prstGeom prst="roundRect">
            <a:avLst>
              <a:gd name="adj" fmla="val 4167"/>
            </a:avLst>
          </a:prstGeom>
          <a:solidFill>
            <a:srgbClr val="1E3248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692640" y="2286000"/>
            <a:ext cx="219456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0" name="Text 68"/>
          <p:cNvSpPr/>
          <p:nvPr/>
        </p:nvSpPr>
        <p:spPr>
          <a:xfrm>
            <a:off x="9784080" y="239572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9857232" y="3163824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2" name="Text 70"/>
          <p:cNvSpPr/>
          <p:nvPr/>
        </p:nvSpPr>
        <p:spPr>
          <a:xfrm>
            <a:off x="10012680" y="309067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launched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9857232" y="395020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4" name="Text 72"/>
          <p:cNvSpPr/>
          <p:nvPr/>
        </p:nvSpPr>
        <p:spPr>
          <a:xfrm>
            <a:off x="10012680" y="387705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users onboarded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9857232" y="4736592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6" name="Text 74"/>
          <p:cNvSpPr/>
          <p:nvPr/>
        </p:nvSpPr>
        <p:spPr>
          <a:xfrm>
            <a:off x="10012680" y="46634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migration done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9857232" y="5522976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8" name="Text 76"/>
          <p:cNvSpPr/>
          <p:nvPr/>
        </p:nvSpPr>
        <p:spPr>
          <a:xfrm>
            <a:off x="10012680" y="5449824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Post-launch support begins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B2D4F"/>
          </a:solidFill>
          <a:ln/>
        </p:spPr>
      </p:sp>
      <p:sp>
        <p:nvSpPr>
          <p:cNvPr id="80" name="Text 78"/>
          <p:cNvSpPr/>
          <p:nvPr/>
        </p:nvSpPr>
        <p:spPr>
          <a:xfrm>
            <a:off x="365760" y="65836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8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Haleelo Tower — Platform Implementation Plan  |  Confidential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11704320" y="6583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9A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9A05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28600"/>
            <a:ext cx="54864" cy="365760"/>
          </a:xfrm>
          <a:prstGeom prst="rect">
            <a:avLst/>
          </a:prstGeom>
          <a:solidFill>
            <a:srgbClr val="C9A05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Technology Stack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56692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proven tools — easy to maintain, scalable as you grow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789920" y="164592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C9A052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0" y="16459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2D4F"/>
                </a:solidFill>
              </a:rPr>
              <a:t>04  TECHNOLOGY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74320" y="960120"/>
            <a:ext cx="566928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12">
                <a:alpha val="7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960120"/>
            <a:ext cx="73152" cy="2468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069848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(What you see)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1737360"/>
            <a:ext cx="52120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1938528"/>
            <a:ext cx="91440" cy="9144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1874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— Fast, SEO-friendly web framework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432304"/>
            <a:ext cx="91440" cy="9144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36829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— Consistent, professional styling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2926080"/>
            <a:ext cx="91440" cy="9144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86207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— One-click hosting and deployment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960120"/>
            <a:ext cx="566928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12">
                <a:alpha val="7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960120"/>
            <a:ext cx="73152" cy="2468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1069848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(How it works)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46520" y="1737360"/>
            <a:ext cx="52120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46520" y="1938528"/>
            <a:ext cx="91440" cy="9144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6629400" y="1874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— Server that processes all requests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46520" y="2432304"/>
            <a:ext cx="91440" cy="9144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6629400" y="236829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Reliable, structured database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46520" y="2926080"/>
            <a:ext cx="91440" cy="9144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6629400" y="286207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— Fast caching for calendars and availability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703320"/>
            <a:ext cx="566928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12">
                <a:alpha val="7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703320"/>
            <a:ext cx="73152" cy="2468880"/>
          </a:xfrm>
          <a:prstGeom prst="rect">
            <a:avLst/>
          </a:prstGeom>
          <a:solidFill>
            <a:srgbClr val="C9A052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3813048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(Connected services)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02920" y="4480560"/>
            <a:ext cx="52120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4681728"/>
            <a:ext cx="91440" cy="91440"/>
          </a:xfrm>
          <a:prstGeom prst="roundRect">
            <a:avLst>
              <a:gd name="adj" fmla="val 20000"/>
            </a:avLst>
          </a:prstGeom>
          <a:solidFill>
            <a:srgbClr val="C9A052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" y="46177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Zaad &amp; Edahab — Local mobile payment processing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" y="5175504"/>
            <a:ext cx="91440" cy="91440"/>
          </a:xfrm>
          <a:prstGeom prst="roundRect">
            <a:avLst>
              <a:gd name="adj" fmla="val 20000"/>
            </a:avLst>
          </a:prstGeom>
          <a:solidFill>
            <a:srgbClr val="C9A052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" y="511149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 API — Payslip &amp; notification delivery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2920" y="5669280"/>
            <a:ext cx="91440" cy="91440"/>
          </a:xfrm>
          <a:prstGeom prst="roundRect">
            <a:avLst>
              <a:gd name="adj" fmla="val 20000"/>
            </a:avLst>
          </a:prstGeom>
          <a:solidFill>
            <a:srgbClr val="C9A052"/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" y="560527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SendGrid — Automated invoice and confirmation emails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17920" y="3703320"/>
            <a:ext cx="566928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12">
                <a:alpha val="7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217920" y="3703320"/>
            <a:ext cx="73152" cy="2468880"/>
          </a:xfrm>
          <a:prstGeom prst="rect">
            <a:avLst/>
          </a:prstGeom>
          <a:solidFill>
            <a:srgbClr val="1B2D4F"/>
          </a:solidFill>
          <a:ln/>
        </p:spPr>
      </p:sp>
      <p:sp>
        <p:nvSpPr>
          <p:cNvPr id="41" name="Text 39"/>
          <p:cNvSpPr/>
          <p:nvPr/>
        </p:nvSpPr>
        <p:spPr>
          <a:xfrm>
            <a:off x="6446520" y="3813048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446520" y="4480560"/>
            <a:ext cx="52120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46520" y="4681728"/>
            <a:ext cx="91440" cy="91440"/>
          </a:xfrm>
          <a:prstGeom prst="roundRect">
            <a:avLst>
              <a:gd name="adj" fmla="val 20000"/>
            </a:avLst>
          </a:prstGeom>
          <a:solidFill>
            <a:srgbClr val="1B2D4F"/>
          </a:solidFill>
          <a:ln/>
        </p:spPr>
      </p:sp>
      <p:sp>
        <p:nvSpPr>
          <p:cNvPr id="44" name="Text 42"/>
          <p:cNvSpPr/>
          <p:nvPr/>
        </p:nvSpPr>
        <p:spPr>
          <a:xfrm>
            <a:off x="6629400" y="46177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encryption on all pages and data in transit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446520" y="5175504"/>
            <a:ext cx="91440" cy="91440"/>
          </a:xfrm>
          <a:prstGeom prst="roundRect">
            <a:avLst>
              <a:gd name="adj" fmla="val 20000"/>
            </a:avLst>
          </a:prstGeom>
          <a:solidFill>
            <a:srgbClr val="1B2D4F"/>
          </a:solidFill>
          <a:ln/>
        </p:spPr>
      </p:sp>
      <p:sp>
        <p:nvSpPr>
          <p:cNvPr id="46" name="Text 44"/>
          <p:cNvSpPr/>
          <p:nvPr/>
        </p:nvSpPr>
        <p:spPr>
          <a:xfrm>
            <a:off x="6629400" y="511149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— each user sees only what they need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446520" y="5669280"/>
            <a:ext cx="91440" cy="91440"/>
          </a:xfrm>
          <a:prstGeom prst="roundRect">
            <a:avLst>
              <a:gd name="adj" fmla="val 20000"/>
            </a:avLst>
          </a:prstGeom>
          <a:solidFill>
            <a:srgbClr val="1B2D4F"/>
          </a:solidFill>
          <a:ln/>
        </p:spPr>
      </p:sp>
      <p:sp>
        <p:nvSpPr>
          <p:cNvPr id="48" name="Text 46"/>
          <p:cNvSpPr/>
          <p:nvPr/>
        </p:nvSpPr>
        <p:spPr>
          <a:xfrm>
            <a:off x="6629400" y="560527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automated backups — your data is always safe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B2D4F"/>
          </a:solidFill>
          <a:ln/>
        </p:spPr>
      </p:sp>
      <p:sp>
        <p:nvSpPr>
          <p:cNvPr id="50" name="Text 48"/>
          <p:cNvSpPr/>
          <p:nvPr/>
        </p:nvSpPr>
        <p:spPr>
          <a:xfrm>
            <a:off x="365760" y="65836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8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Haleelo Tower — Platform Implementation Plan  |  Confidential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11704320" y="6583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9A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9A05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28600"/>
            <a:ext cx="54864" cy="365760"/>
          </a:xfrm>
          <a:prstGeom prst="rect">
            <a:avLst/>
          </a:prstGeom>
          <a:solidFill>
            <a:srgbClr val="C9A05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&amp; Return on Investment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56692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— and what you gain — on day one of go-live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789920" y="164592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C9A052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0" y="16459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2D4F"/>
                </a:solidFill>
              </a:rPr>
              <a:t>05  BENEFITS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74320" y="960120"/>
            <a:ext cx="11612880" cy="347472"/>
          </a:xfrm>
          <a:prstGeom prst="rect">
            <a:avLst/>
          </a:prstGeom>
          <a:solidFill>
            <a:srgbClr val="1B2D4F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96012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48840" y="960120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Today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903720" y="960120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With the Platform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307592"/>
            <a:ext cx="1161288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2103120" y="1307592"/>
            <a:ext cx="0" cy="8229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0" y="1307592"/>
            <a:ext cx="0" cy="8229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1353312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240280" y="1353312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calls, manual calendar, WhatsApp confirmations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995160" y="1353312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booking, auto confirmation, zero double-bookings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185416"/>
            <a:ext cx="11612880" cy="8229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0" name="Shape 18"/>
          <p:cNvSpPr/>
          <p:nvPr/>
        </p:nvSpPr>
        <p:spPr>
          <a:xfrm>
            <a:off x="2103120" y="2185416"/>
            <a:ext cx="0" cy="8229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0" y="2185416"/>
            <a:ext cx="0" cy="8229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231136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240280" y="2231136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Word/Excel invoices, emailed as attachments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995160" y="2231136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PDFs, payment tracking, overdue alerts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3063240"/>
            <a:ext cx="1161288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2103120" y="3063240"/>
            <a:ext cx="0" cy="8229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0" y="3063240"/>
            <a:ext cx="0" cy="8229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10896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240280" y="310896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 compiled once per month, prone to errors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995160" y="310896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dashboard, scheduled PDF reports, trend charts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3941064"/>
            <a:ext cx="11612880" cy="8229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2" name="Shape 30"/>
          <p:cNvSpPr/>
          <p:nvPr/>
        </p:nvSpPr>
        <p:spPr>
          <a:xfrm>
            <a:off x="2103120" y="3941064"/>
            <a:ext cx="0" cy="8229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58000" y="3941064"/>
            <a:ext cx="0" cy="8229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3986784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240280" y="3986784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calculation, paper payslips or verbal notice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995160" y="3986784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calculation, digital payslips via WhatsApp/email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74320" y="4818888"/>
            <a:ext cx="1161288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Shape 36"/>
          <p:cNvSpPr/>
          <p:nvPr/>
        </p:nvSpPr>
        <p:spPr>
          <a:xfrm>
            <a:off x="2103120" y="4818888"/>
            <a:ext cx="0" cy="8229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858000" y="4818888"/>
            <a:ext cx="0" cy="8229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4864608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Comms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240280" y="4864608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Ad-hoc WhatsApp messages and phone calls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995160" y="4864608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In-platform announcements, documents, and request tracking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74320" y="5696712"/>
            <a:ext cx="1161288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4" name="Shape 42"/>
          <p:cNvSpPr/>
          <p:nvPr/>
        </p:nvSpPr>
        <p:spPr>
          <a:xfrm>
            <a:off x="274320" y="5806440"/>
            <a:ext cx="2834640" cy="804672"/>
          </a:xfrm>
          <a:prstGeom prst="roundRect">
            <a:avLst>
              <a:gd name="adj" fmla="val 11364"/>
            </a:avLst>
          </a:prstGeom>
          <a:solidFill>
            <a:srgbClr val="1B2D4F"/>
          </a:solidFill>
          <a:ln/>
        </p:spPr>
      </p:sp>
      <p:sp>
        <p:nvSpPr>
          <p:cNvPr id="45" name="Text 43"/>
          <p:cNvSpPr/>
          <p:nvPr/>
        </p:nvSpPr>
        <p:spPr>
          <a:xfrm>
            <a:off x="274320" y="5824728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274320" y="6117336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246120" y="5806440"/>
            <a:ext cx="2834640" cy="804672"/>
          </a:xfrm>
          <a:prstGeom prst="roundRect">
            <a:avLst>
              <a:gd name="adj" fmla="val 11364"/>
            </a:avLst>
          </a:prstGeom>
          <a:solidFill>
            <a:srgbClr val="10B981"/>
          </a:solidFill>
          <a:ln/>
        </p:spPr>
      </p:sp>
      <p:sp>
        <p:nvSpPr>
          <p:cNvPr id="48" name="Text 46"/>
          <p:cNvSpPr/>
          <p:nvPr/>
        </p:nvSpPr>
        <p:spPr>
          <a:xfrm>
            <a:off x="3246120" y="5824728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3246120" y="6117336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digitally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217920" y="5806440"/>
            <a:ext cx="2834640" cy="804672"/>
          </a:xfrm>
          <a:prstGeom prst="roundRect">
            <a:avLst>
              <a:gd name="adj" fmla="val 11364"/>
            </a:avLst>
          </a:prstGeom>
          <a:solidFill>
            <a:srgbClr val="C9A052"/>
          </a:solidFill>
          <a:ln/>
        </p:spPr>
      </p:sp>
      <p:sp>
        <p:nvSpPr>
          <p:cNvPr id="51" name="Text 49"/>
          <p:cNvSpPr/>
          <p:nvPr/>
        </p:nvSpPr>
        <p:spPr>
          <a:xfrm>
            <a:off x="6217920" y="5824728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min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6217920" y="6117336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generate any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9189720" y="5806440"/>
            <a:ext cx="2834640" cy="804672"/>
          </a:xfrm>
          <a:prstGeom prst="roundRect">
            <a:avLst>
              <a:gd name="adj" fmla="val 11364"/>
            </a:avLst>
          </a:prstGeom>
          <a:solidFill>
            <a:srgbClr val="3B82F6"/>
          </a:solidFill>
          <a:ln/>
        </p:spPr>
      </p:sp>
      <p:sp>
        <p:nvSpPr>
          <p:cNvPr id="54" name="Text 52"/>
          <p:cNvSpPr/>
          <p:nvPr/>
        </p:nvSpPr>
        <p:spPr>
          <a:xfrm>
            <a:off x="9189720" y="5824728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9189720" y="6117336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Double-bookings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launch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B2D4F"/>
          </a:solidFill>
          <a:ln/>
        </p:spPr>
      </p:sp>
      <p:sp>
        <p:nvSpPr>
          <p:cNvPr id="57" name="Text 55"/>
          <p:cNvSpPr/>
          <p:nvPr/>
        </p:nvSpPr>
        <p:spPr>
          <a:xfrm>
            <a:off x="365760" y="65836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8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Haleelo Tower — Platform Implementation Plan  |  Confidential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11704320" y="6583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9A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D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9A052"/>
          </a:solidFill>
          <a:ln/>
        </p:spPr>
      </p:sp>
      <p:sp>
        <p:nvSpPr>
          <p:cNvPr id="4" name="Shape 2"/>
          <p:cNvSpPr/>
          <p:nvPr/>
        </p:nvSpPr>
        <p:spPr>
          <a:xfrm>
            <a:off x="10789920" y="164592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C9A052"/>
          </a:solidFill>
          <a:ln/>
        </p:spPr>
      </p:sp>
      <p:sp>
        <p:nvSpPr>
          <p:cNvPr id="5" name="Text 3"/>
          <p:cNvSpPr/>
          <p:nvPr/>
        </p:nvSpPr>
        <p:spPr>
          <a:xfrm>
            <a:off x="10789920" y="16459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2D4F"/>
                </a:solidFill>
              </a:rPr>
              <a:t>06  NEXT STEPS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Next?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8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simple steps from approval to a live platform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2697480" cy="4983480"/>
          </a:xfrm>
          <a:prstGeom prst="roundRect">
            <a:avLst>
              <a:gd name="adj" fmla="val 4746"/>
            </a:avLst>
          </a:prstGeom>
          <a:solidFill>
            <a:srgbClr val="1E3248"/>
          </a:solidFill>
          <a:ln w="15240">
            <a:solidFill>
              <a:srgbClr val="C9A0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417320"/>
            <a:ext cx="2697480" cy="64008"/>
          </a:xfrm>
          <a:prstGeom prst="rect">
            <a:avLst/>
          </a:prstGeom>
          <a:solidFill>
            <a:srgbClr val="C9A052"/>
          </a:solidFill>
          <a:ln/>
        </p:spPr>
      </p:sp>
      <p:sp>
        <p:nvSpPr>
          <p:cNvPr id="10" name="Shape 8"/>
          <p:cNvSpPr/>
          <p:nvPr/>
        </p:nvSpPr>
        <p:spPr>
          <a:xfrm>
            <a:off x="1353312" y="1691640"/>
            <a:ext cx="731520" cy="731520"/>
          </a:xfrm>
          <a:prstGeom prst="ellipse">
            <a:avLst/>
          </a:prstGeom>
          <a:solidFill>
            <a:srgbClr val="C9A052"/>
          </a:solidFill>
          <a:ln/>
        </p:spPr>
      </p:sp>
      <p:sp>
        <p:nvSpPr>
          <p:cNvPr id="11" name="Text 9"/>
          <p:cNvSpPr/>
          <p:nvPr/>
        </p:nvSpPr>
        <p:spPr>
          <a:xfrm>
            <a:off x="1353312" y="1691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02920" y="257860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3273552"/>
            <a:ext cx="2331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this document, confirm the scope and timeline, and give the green light.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4846320"/>
            <a:ext cx="2423160" cy="502920"/>
          </a:xfrm>
          <a:prstGeom prst="roundRect">
            <a:avLst>
              <a:gd name="adj" fmla="val 14545"/>
            </a:avLst>
          </a:prstGeom>
          <a:solidFill>
            <a:srgbClr val="4A3A1E"/>
          </a:solidFill>
          <a:ln w="9525">
            <a:solidFill>
              <a:srgbClr val="C9A0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873752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A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from building owners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91840" y="1417320"/>
            <a:ext cx="2697480" cy="4983480"/>
          </a:xfrm>
          <a:prstGeom prst="roundRect">
            <a:avLst>
              <a:gd name="adj" fmla="val 4746"/>
            </a:avLst>
          </a:prstGeom>
          <a:solidFill>
            <a:srgbClr val="1E3248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91840" y="1417320"/>
            <a:ext cx="269748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Shape 16"/>
          <p:cNvSpPr/>
          <p:nvPr/>
        </p:nvSpPr>
        <p:spPr>
          <a:xfrm>
            <a:off x="4279392" y="169164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4279392" y="1691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429000" y="257860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474720" y="3273552"/>
            <a:ext cx="2331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7 prototype screens already built. Confirm the look and feel before build starts.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429000" y="4846320"/>
            <a:ext cx="2423160" cy="502920"/>
          </a:xfrm>
          <a:prstGeom prst="roundRect">
            <a:avLst>
              <a:gd name="adj" fmla="val 14545"/>
            </a:avLst>
          </a:prstGeom>
          <a:solidFill>
            <a:srgbClr val="4A3A1E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4873752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7 prototype screens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217920" y="1417320"/>
            <a:ext cx="2697480" cy="4983480"/>
          </a:xfrm>
          <a:prstGeom prst="roundRect">
            <a:avLst>
              <a:gd name="adj" fmla="val 4746"/>
            </a:avLst>
          </a:prstGeom>
          <a:solidFill>
            <a:srgbClr val="1E3248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1417320"/>
            <a:ext cx="269748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Shape 24"/>
          <p:cNvSpPr/>
          <p:nvPr/>
        </p:nvSpPr>
        <p:spPr>
          <a:xfrm>
            <a:off x="7205472" y="1691640"/>
            <a:ext cx="731520" cy="7315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7205472" y="1691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355080" y="257860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0" y="3273552"/>
            <a:ext cx="2331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builds all 7 modules in 6 weeks. Weekly demos keep you in full control.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355080" y="4846320"/>
            <a:ext cx="2423160" cy="502920"/>
          </a:xfrm>
          <a:prstGeom prst="roundRect">
            <a:avLst>
              <a:gd name="adj" fmla="val 14545"/>
            </a:avLst>
          </a:prstGeom>
          <a:solidFill>
            <a:srgbClr val="4A3A1E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4873752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progress check-ins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9144000" y="1417320"/>
            <a:ext cx="2697480" cy="4983480"/>
          </a:xfrm>
          <a:prstGeom prst="roundRect">
            <a:avLst>
              <a:gd name="adj" fmla="val 4746"/>
            </a:avLst>
          </a:prstGeom>
          <a:solidFill>
            <a:srgbClr val="1E3248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44000" y="1417320"/>
            <a:ext cx="2697480" cy="640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4" name="Shape 32"/>
          <p:cNvSpPr/>
          <p:nvPr/>
        </p:nvSpPr>
        <p:spPr>
          <a:xfrm>
            <a:off x="10131552" y="1691640"/>
            <a:ext cx="731520" cy="7315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5" name="Text 33"/>
          <p:cNvSpPr/>
          <p:nvPr/>
        </p:nvSpPr>
        <p:spPr>
          <a:xfrm>
            <a:off x="10131552" y="1691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9281160" y="257860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Train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326880" y="3273552"/>
            <a:ext cx="2331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 with full staff training. Every user gets a walkthrough of their portal.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9281160" y="4846320"/>
            <a:ext cx="2423160" cy="502920"/>
          </a:xfrm>
          <a:prstGeom prst="roundRect">
            <a:avLst>
              <a:gd name="adj" fmla="val 14545"/>
            </a:avLst>
          </a:prstGeom>
          <a:solidFill>
            <a:srgbClr val="4A3A1E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326880" y="4873752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session for all staff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B2D4F"/>
          </a:solidFill>
          <a:ln/>
        </p:spPr>
      </p:sp>
      <p:sp>
        <p:nvSpPr>
          <p:cNvPr id="41" name="Text 39"/>
          <p:cNvSpPr/>
          <p:nvPr/>
        </p:nvSpPr>
        <p:spPr>
          <a:xfrm>
            <a:off x="365760" y="65836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8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Haleelo Tower — Platform Implementation Plan  |  Confidential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11704320" y="6583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9A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D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C9A05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C9A052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0" y="457200"/>
            <a:ext cx="5486400" cy="5486400"/>
          </a:xfrm>
          <a:prstGeom prst="ellipse">
            <a:avLst/>
          </a:prstGeom>
          <a:solidFill>
            <a:srgbClr val="4A3A1E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0" y="1097280"/>
            <a:ext cx="4023360" cy="4023360"/>
          </a:xfrm>
          <a:prstGeom prst="ellipse">
            <a:avLst/>
          </a:prstGeom>
          <a:solidFill>
            <a:srgbClr val="0F1D3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63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48640" y="2359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9A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something great for Haleelo Tower.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944368"/>
            <a:ext cx="5943600" cy="0"/>
          </a:xfrm>
          <a:prstGeom prst="line">
            <a:avLst/>
          </a:prstGeom>
          <a:noFill/>
          <a:ln w="12700">
            <a:solidFill>
              <a:srgbClr val="A080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0815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Let's discuss.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611880"/>
            <a:ext cx="7315200" cy="530352"/>
          </a:xfrm>
          <a:prstGeom prst="roundRect">
            <a:avLst>
              <a:gd name="adj" fmla="val 13793"/>
            </a:avLst>
          </a:prstGeom>
          <a:solidFill>
            <a:srgbClr val="1E3248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3785616"/>
            <a:ext cx="109728" cy="109728"/>
          </a:xfrm>
          <a:prstGeom prst="ellipse">
            <a:avLst/>
          </a:prstGeom>
          <a:solidFill>
            <a:srgbClr val="C9A052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639312"/>
            <a:ext cx="6675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implementation plan available as a Word document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270248"/>
            <a:ext cx="7315200" cy="530352"/>
          </a:xfrm>
          <a:prstGeom prst="roundRect">
            <a:avLst>
              <a:gd name="adj" fmla="val 13793"/>
            </a:avLst>
          </a:prstGeom>
          <a:solidFill>
            <a:srgbClr val="1E3248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4443984"/>
            <a:ext cx="109728" cy="109728"/>
          </a:xfrm>
          <a:prstGeom prst="ellipse">
            <a:avLst/>
          </a:prstGeom>
          <a:solidFill>
            <a:srgbClr val="C9A052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297680"/>
            <a:ext cx="6675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interactive prototype screens ready to review now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928616"/>
            <a:ext cx="7315200" cy="530352"/>
          </a:xfrm>
          <a:prstGeom prst="roundRect">
            <a:avLst>
              <a:gd name="adj" fmla="val 13793"/>
            </a:avLst>
          </a:prstGeom>
          <a:solidFill>
            <a:srgbClr val="1E3248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5102352"/>
            <a:ext cx="109728" cy="109728"/>
          </a:xfrm>
          <a:prstGeom prst="ellipse">
            <a:avLst/>
          </a:prstGeom>
          <a:solidFill>
            <a:srgbClr val="C9A052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956048"/>
            <a:ext cx="6675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can begin as soon as this plan is approved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0" y="6492240"/>
            <a:ext cx="1218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08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Haleelo Tower  ·  Platform Implementation Plan  ·  v1.1  ·  May 2026  ·  Confidential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Haleelo Tower — Platform Implementation Plan</dc:title>
  <dc:subject>Platform Implementation Plan</dc:subject>
  <dc:creator>Haleelo Tower Platform</dc:creator>
  <cp:lastModifiedBy>Haleelo Tower Platform</cp:lastModifiedBy>
  <cp:revision>1</cp:revision>
  <dcterms:created xsi:type="dcterms:W3CDTF">2026-05-23T06:54:26Z</dcterms:created>
  <dcterms:modified xsi:type="dcterms:W3CDTF">2026-05-23T06:54:26Z</dcterms:modified>
</cp:coreProperties>
</file>